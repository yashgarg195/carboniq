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44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5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1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40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image" Target="../media/image15.png"/><Relationship Id="rId21" Type="http://schemas.openxmlformats.org/officeDocument/2006/relationships/image" Target="../media/image59.png"/><Relationship Id="rId7" Type="http://schemas.openxmlformats.org/officeDocument/2006/relationships/image" Target="../media/image18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5" Type="http://schemas.openxmlformats.org/officeDocument/2006/relationships/image" Target="../media/image45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15.png"/><Relationship Id="rId21" Type="http://schemas.openxmlformats.org/officeDocument/2006/relationships/image" Target="../media/image82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5" Type="http://schemas.openxmlformats.org/officeDocument/2006/relationships/image" Target="../media/image1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14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2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5.png"/><Relationship Id="rId21" Type="http://schemas.openxmlformats.org/officeDocument/2006/relationships/image" Target="../media/image104.png"/><Relationship Id="rId7" Type="http://schemas.openxmlformats.org/officeDocument/2006/relationships/image" Target="../media/image68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5.png"/><Relationship Id="rId21" Type="http://schemas.openxmlformats.org/officeDocument/2006/relationships/image" Target="../media/image122.png"/><Relationship Id="rId7" Type="http://schemas.openxmlformats.org/officeDocument/2006/relationships/image" Target="../media/image1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8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2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26" Type="http://schemas.openxmlformats.org/officeDocument/2006/relationships/image" Target="../media/image123.png"/><Relationship Id="rId3" Type="http://schemas.openxmlformats.org/officeDocument/2006/relationships/image" Target="../media/image15.png"/><Relationship Id="rId21" Type="http://schemas.openxmlformats.org/officeDocument/2006/relationships/image" Target="../media/image141.png"/><Relationship Id="rId7" Type="http://schemas.openxmlformats.org/officeDocument/2006/relationships/image" Target="../media/image18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5" Type="http://schemas.openxmlformats.org/officeDocument/2006/relationships/image" Target="../media/image14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6.png"/><Relationship Id="rId20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31.png"/><Relationship Id="rId24" Type="http://schemas.openxmlformats.org/officeDocument/2006/relationships/image" Target="../media/image144.png"/><Relationship Id="rId5" Type="http://schemas.openxmlformats.org/officeDocument/2006/relationships/image" Target="../media/image108.png"/><Relationship Id="rId15" Type="http://schemas.openxmlformats.org/officeDocument/2006/relationships/image" Target="../media/image135.png"/><Relationship Id="rId23" Type="http://schemas.openxmlformats.org/officeDocument/2006/relationships/image" Target="../media/image143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4" Type="http://schemas.openxmlformats.org/officeDocument/2006/relationships/image" Target="../media/image2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Relationship Id="rId22" Type="http://schemas.openxmlformats.org/officeDocument/2006/relationships/image" Target="../media/image1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49.png"/><Relationship Id="rId5" Type="http://schemas.openxmlformats.org/officeDocument/2006/relationships/image" Target="../media/image16.png"/><Relationship Id="rId15" Type="http://schemas.openxmlformats.org/officeDocument/2006/relationships/image" Target="../media/image153.png"/><Relationship Id="rId10" Type="http://schemas.openxmlformats.org/officeDocument/2006/relationships/image" Target="../media/image148.png"/><Relationship Id="rId4" Type="http://schemas.openxmlformats.org/officeDocument/2006/relationships/image" Target="../media/image2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9975" y="0"/>
            <a:ext cx="4772025" cy="47720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90975"/>
            <a:ext cx="2867025" cy="28670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7575" y="962025"/>
            <a:ext cx="4476750" cy="1752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1400" y="1085850"/>
            <a:ext cx="57150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7575" y="2600325"/>
            <a:ext cx="4476750" cy="1752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1400" y="2724150"/>
            <a:ext cx="5715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7575" y="4238625"/>
            <a:ext cx="4476750" cy="1752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1400" y="4362450"/>
            <a:ext cx="57150" cy="14097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1923157"/>
            <a:ext cx="62484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CarbonIQ</a:t>
            </a:r>
            <a:endParaRPr lang="en-US" sz="7800" dirty="0"/>
          </a:p>
        </p:txBody>
      </p:sp>
      <p:sp>
        <p:nvSpPr>
          <p:cNvPr id="15" name="Text 1"/>
          <p:cNvSpPr/>
          <p:nvPr/>
        </p:nvSpPr>
        <p:spPr>
          <a:xfrm>
            <a:off x="571500" y="3094732"/>
            <a:ext cx="571500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Intelligence Dashboard for Indian Road Freight</a:t>
            </a:r>
            <a:endParaRPr lang="en-US" sz="2200" dirty="0"/>
          </a:p>
        </p:txBody>
      </p:sp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4667250"/>
            <a:ext cx="238125" cy="257175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904875" y="4649093"/>
            <a:ext cx="44584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https://github.com/yashgarg195/CarbonIQ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7686675" y="1381125"/>
            <a:ext cx="3638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800+</a:t>
            </a:r>
            <a:endParaRPr lang="en-US" sz="3400" dirty="0"/>
          </a:p>
        </p:txBody>
      </p:sp>
      <p:sp>
        <p:nvSpPr>
          <p:cNvPr id="19" name="Text 4"/>
          <p:cNvSpPr/>
          <p:nvPr/>
        </p:nvSpPr>
        <p:spPr>
          <a:xfrm>
            <a:off x="7686675" y="1914525"/>
            <a:ext cx="3638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Shipments Tracked</a:t>
            </a:r>
            <a:endParaRPr lang="en-US" sz="1400" dirty="0"/>
          </a:p>
        </p:txBody>
      </p:sp>
      <p:sp>
        <p:nvSpPr>
          <p:cNvPr id="20" name="Text 5"/>
          <p:cNvSpPr/>
          <p:nvPr/>
        </p:nvSpPr>
        <p:spPr>
          <a:xfrm>
            <a:off x="7686675" y="3019425"/>
            <a:ext cx="3638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4,600</a:t>
            </a:r>
            <a:endParaRPr lang="en-US" sz="3400" dirty="0"/>
          </a:p>
        </p:txBody>
      </p:sp>
      <p:sp>
        <p:nvSpPr>
          <p:cNvPr id="21" name="Text 6"/>
          <p:cNvSpPr/>
          <p:nvPr/>
        </p:nvSpPr>
        <p:spPr>
          <a:xfrm>
            <a:off x="7686675" y="3552825"/>
            <a:ext cx="3638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Carrier Profiles</a:t>
            </a:r>
            <a:endParaRPr lang="en-US" sz="1400" dirty="0"/>
          </a:p>
        </p:txBody>
      </p:sp>
      <p:sp>
        <p:nvSpPr>
          <p:cNvPr id="22" name="Text 7"/>
          <p:cNvSpPr/>
          <p:nvPr/>
        </p:nvSpPr>
        <p:spPr>
          <a:xfrm>
            <a:off x="7686675" y="4657725"/>
            <a:ext cx="3638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</a:t>
            </a:r>
            <a:endParaRPr lang="en-US" sz="3400" dirty="0"/>
          </a:p>
        </p:txBody>
      </p:sp>
      <p:sp>
        <p:nvSpPr>
          <p:cNvPr id="23" name="Text 8"/>
          <p:cNvSpPr/>
          <p:nvPr/>
        </p:nvSpPr>
        <p:spPr>
          <a:xfrm>
            <a:off x="7686675" y="5191125"/>
            <a:ext cx="3638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Decarbonisation Levers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771525"/>
            <a:ext cx="971550" cy="9810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124075"/>
            <a:ext cx="5067300" cy="8858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209925"/>
            <a:ext cx="5067300" cy="885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295775"/>
            <a:ext cx="5067300" cy="8858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5381625"/>
            <a:ext cx="5067300" cy="885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124075"/>
            <a:ext cx="5067300" cy="885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3209925"/>
            <a:ext cx="5067300" cy="8858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4295775"/>
            <a:ext cx="5067300" cy="8858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5381625"/>
            <a:ext cx="5067300" cy="88582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76250" y="368268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15" name="Text 1"/>
          <p:cNvSpPr/>
          <p:nvPr/>
        </p:nvSpPr>
        <p:spPr>
          <a:xfrm>
            <a:off x="5172075" y="261111"/>
            <a:ext cx="1847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LogisticsNow Hackathon </a:t>
            </a:r>
            <a:endParaRPr lang="en-US" sz="1200" dirty="0">
              <a:solidFill>
                <a:srgbClr val="00CC99"/>
              </a:solidFill>
            </a:endParaRPr>
          </a:p>
        </p:txBody>
      </p:sp>
      <p:sp>
        <p:nvSpPr>
          <p:cNvPr id="16" name="Text 2"/>
          <p:cNvSpPr/>
          <p:nvPr/>
        </p:nvSpPr>
        <p:spPr>
          <a:xfrm>
            <a:off x="762000" y="988219"/>
            <a:ext cx="304234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</a:t>
            </a:r>
            <a:endParaRPr lang="en-US" sz="5100" dirty="0"/>
          </a:p>
        </p:txBody>
      </p:sp>
      <p:sp>
        <p:nvSpPr>
          <p:cNvPr id="17" name="Text 3"/>
          <p:cNvSpPr/>
          <p:nvPr/>
        </p:nvSpPr>
        <p:spPr>
          <a:xfrm>
            <a:off x="962025" y="234076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18" name="Text 4"/>
          <p:cNvSpPr/>
          <p:nvPr/>
        </p:nvSpPr>
        <p:spPr>
          <a:xfrm>
            <a:off x="1628775" y="2426494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700" dirty="0"/>
          </a:p>
        </p:txBody>
      </p:sp>
      <p:sp>
        <p:nvSpPr>
          <p:cNvPr id="19" name="Text 5"/>
          <p:cNvSpPr/>
          <p:nvPr/>
        </p:nvSpPr>
        <p:spPr>
          <a:xfrm>
            <a:off x="962025" y="342661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6"/>
          <p:cNvSpPr/>
          <p:nvPr/>
        </p:nvSpPr>
        <p:spPr>
          <a:xfrm>
            <a:off x="1628775" y="3512344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&amp; Modules</a:t>
            </a:r>
            <a:endParaRPr lang="en-US" sz="1700" dirty="0"/>
          </a:p>
        </p:txBody>
      </p:sp>
      <p:sp>
        <p:nvSpPr>
          <p:cNvPr id="21" name="Text 7"/>
          <p:cNvSpPr/>
          <p:nvPr/>
        </p:nvSpPr>
        <p:spPr>
          <a:xfrm>
            <a:off x="962025" y="451246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8"/>
          <p:cNvSpPr/>
          <p:nvPr/>
        </p:nvSpPr>
        <p:spPr>
          <a:xfrm>
            <a:off x="1628775" y="4598194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Features</a:t>
            </a:r>
            <a:endParaRPr lang="en-US" sz="1700" dirty="0"/>
          </a:p>
        </p:txBody>
      </p:sp>
      <p:sp>
        <p:nvSpPr>
          <p:cNvPr id="23" name="Text 9"/>
          <p:cNvSpPr/>
          <p:nvPr/>
        </p:nvSpPr>
        <p:spPr>
          <a:xfrm>
            <a:off x="962025" y="559831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10"/>
          <p:cNvSpPr/>
          <p:nvPr/>
        </p:nvSpPr>
        <p:spPr>
          <a:xfrm>
            <a:off x="1628775" y="5684044"/>
            <a:ext cx="2219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25" name="Text 11"/>
          <p:cNvSpPr/>
          <p:nvPr/>
        </p:nvSpPr>
        <p:spPr>
          <a:xfrm>
            <a:off x="6581775" y="234076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12"/>
          <p:cNvSpPr/>
          <p:nvPr/>
        </p:nvSpPr>
        <p:spPr>
          <a:xfrm>
            <a:off x="7248525" y="2426494"/>
            <a:ext cx="106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Flow</a:t>
            </a:r>
            <a:endParaRPr lang="en-US" sz="1700" dirty="0"/>
          </a:p>
        </p:txBody>
      </p:sp>
      <p:sp>
        <p:nvSpPr>
          <p:cNvPr id="27" name="Text 13"/>
          <p:cNvSpPr/>
          <p:nvPr/>
        </p:nvSpPr>
        <p:spPr>
          <a:xfrm>
            <a:off x="6581775" y="342661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14"/>
          <p:cNvSpPr/>
          <p:nvPr/>
        </p:nvSpPr>
        <p:spPr>
          <a:xfrm>
            <a:off x="7248525" y="3512344"/>
            <a:ext cx="2657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Agentic Intelligence</a:t>
            </a:r>
            <a:endParaRPr lang="en-US" sz="1700" dirty="0"/>
          </a:p>
        </p:txBody>
      </p:sp>
      <p:sp>
        <p:nvSpPr>
          <p:cNvPr id="29" name="Text 15"/>
          <p:cNvSpPr/>
          <p:nvPr/>
        </p:nvSpPr>
        <p:spPr>
          <a:xfrm>
            <a:off x="6581775" y="451246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16"/>
          <p:cNvSpPr/>
          <p:nvPr/>
        </p:nvSpPr>
        <p:spPr>
          <a:xfrm>
            <a:off x="7248525" y="4598194"/>
            <a:ext cx="2114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Impact</a:t>
            </a:r>
            <a:endParaRPr lang="en-US" sz="1700" dirty="0"/>
          </a:p>
        </p:txBody>
      </p:sp>
      <p:sp>
        <p:nvSpPr>
          <p:cNvPr id="31" name="Text 17"/>
          <p:cNvSpPr/>
          <p:nvPr/>
        </p:nvSpPr>
        <p:spPr>
          <a:xfrm>
            <a:off x="6581775" y="5598319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2200" dirty="0"/>
          </a:p>
        </p:txBody>
      </p:sp>
      <p:sp>
        <p:nvSpPr>
          <p:cNvPr id="32" name="Text 18"/>
          <p:cNvSpPr/>
          <p:nvPr/>
        </p:nvSpPr>
        <p:spPr>
          <a:xfrm>
            <a:off x="7248525" y="5684044"/>
            <a:ext cx="3371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Roadmap + Team</a:t>
            </a:r>
            <a:endParaRPr lang="en-US" sz="1700" dirty="0"/>
          </a:p>
        </p:txBody>
      </p:sp>
      <p:pic>
        <p:nvPicPr>
          <p:cNvPr id="34" name="Image 22" descr="preencoded.png">
            <a:extLst>
              <a:ext uri="{FF2B5EF4-FFF2-40B4-BE49-F238E27FC236}">
                <a16:creationId xmlns:a16="http://schemas.microsoft.com/office/drawing/2014/main" id="{A8A19A53-B008-E301-E263-D68EBE9AB4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647700"/>
            <a:ext cx="1125855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0"/>
            <a:ext cx="5114925" cy="5038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71775"/>
            <a:ext cx="41624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1647825"/>
            <a:ext cx="3619500" cy="1552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0" y="1647825"/>
            <a:ext cx="3619500" cy="1552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5775" y="1647825"/>
            <a:ext cx="3619500" cy="1552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25" y="3457575"/>
            <a:ext cx="5524500" cy="14668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648075"/>
            <a:ext cx="323850" cy="3333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775" y="3457575"/>
            <a:ext cx="5524500" cy="14668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3648075"/>
            <a:ext cx="323850" cy="3333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725" y="5124450"/>
            <a:ext cx="5524500" cy="14573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314950"/>
            <a:ext cx="323850" cy="3333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0775" y="5124450"/>
            <a:ext cx="5524500" cy="14573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9850" y="5314950"/>
            <a:ext cx="323850" cy="3333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81350" y="1809750"/>
            <a:ext cx="742950" cy="600075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14375" y="1966912"/>
            <a:ext cx="311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330 MT</a:t>
            </a:r>
            <a:endParaRPr lang="en-US" sz="3400" dirty="0"/>
          </a:p>
        </p:txBody>
      </p:sp>
      <p:sp>
        <p:nvSpPr>
          <p:cNvPr id="20" name="Text 1"/>
          <p:cNvSpPr/>
          <p:nvPr/>
        </p:nvSpPr>
        <p:spPr>
          <a:xfrm>
            <a:off x="714375" y="2500313"/>
            <a:ext cx="320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CO₂e/year from Indian road freight — 6th largest emitter globally</a:t>
            </a:r>
            <a:endParaRPr lang="en-US" sz="1100" dirty="0"/>
          </a:p>
        </p:txBody>
      </p:sp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00875" y="1809750"/>
            <a:ext cx="742950" cy="600075"/>
          </a:xfrm>
          <a:prstGeom prst="rect">
            <a:avLst/>
          </a:prstGeom>
        </p:spPr>
      </p:pic>
      <p:sp>
        <p:nvSpPr>
          <p:cNvPr id="22" name="Text 2"/>
          <p:cNvSpPr/>
          <p:nvPr/>
        </p:nvSpPr>
        <p:spPr>
          <a:xfrm>
            <a:off x="4537025" y="1966912"/>
            <a:ext cx="311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3400" dirty="0"/>
          </a:p>
        </p:txBody>
      </p:sp>
      <p:sp>
        <p:nvSpPr>
          <p:cNvPr id="23" name="Text 3"/>
          <p:cNvSpPr/>
          <p:nvPr/>
        </p:nvSpPr>
        <p:spPr>
          <a:xfrm>
            <a:off x="4537025" y="2500313"/>
            <a:ext cx="320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shipment-level emission visibility in traditional fleet management</a:t>
            </a:r>
            <a:endParaRPr lang="en-US" sz="1100" dirty="0"/>
          </a:p>
        </p:txBody>
      </p:sp>
      <p:pic>
        <p:nvPicPr>
          <p:cNvPr id="24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82350" y="1809750"/>
            <a:ext cx="381000" cy="600075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8359676" y="1966912"/>
            <a:ext cx="3117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₹2.1 Trillion</a:t>
            </a:r>
            <a:endParaRPr lang="en-US" sz="3400" dirty="0"/>
          </a:p>
        </p:txBody>
      </p:sp>
      <p:sp>
        <p:nvSpPr>
          <p:cNvPr id="26" name="Text 5"/>
          <p:cNvSpPr/>
          <p:nvPr/>
        </p:nvSpPr>
        <p:spPr>
          <a:xfrm>
            <a:off x="8359676" y="2500313"/>
            <a:ext cx="3203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sector GDP contribution now under SEBI ESG reporting pressure</a:t>
            </a:r>
            <a:endParaRPr lang="en-US" sz="1100" dirty="0"/>
          </a:p>
        </p:txBody>
      </p:sp>
      <p:sp>
        <p:nvSpPr>
          <p:cNvPr id="27" name="Text 6"/>
          <p:cNvSpPr/>
          <p:nvPr/>
        </p:nvSpPr>
        <p:spPr>
          <a:xfrm>
            <a:off x="1114425" y="3671888"/>
            <a:ext cx="3000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Shipment-Level Carbon Data</a:t>
            </a:r>
            <a:endParaRPr lang="en-US" sz="1400" dirty="0"/>
          </a:p>
        </p:txBody>
      </p:sp>
      <p:sp>
        <p:nvSpPr>
          <p:cNvPr id="28" name="Text 7"/>
          <p:cNvSpPr/>
          <p:nvPr/>
        </p:nvSpPr>
        <p:spPr>
          <a:xfrm>
            <a:off x="998219" y="4043363"/>
            <a:ext cx="514445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managers operate blind; no per-route or per-carrier emission breakdown</a:t>
            </a:r>
            <a:endParaRPr lang="en-US" sz="1100" dirty="0"/>
          </a:p>
        </p:txBody>
      </p:sp>
      <p:pic>
        <p:nvPicPr>
          <p:cNvPr id="29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05575" y="3733800"/>
            <a:ext cx="152400" cy="161925"/>
          </a:xfrm>
          <a:prstGeom prst="rect">
            <a:avLst/>
          </a:prstGeom>
        </p:spPr>
      </p:pic>
      <p:sp>
        <p:nvSpPr>
          <p:cNvPr id="30" name="Text 8"/>
          <p:cNvSpPr/>
          <p:nvPr/>
        </p:nvSpPr>
        <p:spPr>
          <a:xfrm>
            <a:off x="6848475" y="3671888"/>
            <a:ext cx="2524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Pressure Rising</a:t>
            </a:r>
            <a:endParaRPr lang="en-US" sz="1400" dirty="0"/>
          </a:p>
        </p:txBody>
      </p:sp>
      <p:sp>
        <p:nvSpPr>
          <p:cNvPr id="31" name="Text 9"/>
          <p:cNvSpPr/>
          <p:nvPr/>
        </p:nvSpPr>
        <p:spPr>
          <a:xfrm>
            <a:off x="6580822" y="4043363"/>
            <a:ext cx="514445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SEBI BRSR mandates Scope 3 reporting; penalties incoming for non-compliance</a:t>
            </a:r>
            <a:endParaRPr lang="en-US" sz="1100" dirty="0"/>
          </a:p>
        </p:txBody>
      </p:sp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1050" y="5400675"/>
            <a:ext cx="133350" cy="161925"/>
          </a:xfrm>
          <a:prstGeom prst="rect">
            <a:avLst/>
          </a:prstGeom>
        </p:spPr>
      </p:pic>
      <p:sp>
        <p:nvSpPr>
          <p:cNvPr id="33" name="Text 10"/>
          <p:cNvSpPr/>
          <p:nvPr/>
        </p:nvSpPr>
        <p:spPr>
          <a:xfrm>
            <a:off x="1114425" y="5336381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What-If Planning Tools</a:t>
            </a:r>
            <a:endParaRPr lang="en-US" sz="1400" dirty="0"/>
          </a:p>
        </p:txBody>
      </p:sp>
      <p:sp>
        <p:nvSpPr>
          <p:cNvPr id="34" name="Text 11"/>
          <p:cNvSpPr/>
          <p:nvPr/>
        </p:nvSpPr>
        <p:spPr>
          <a:xfrm>
            <a:off x="998218" y="5707856"/>
            <a:ext cx="514445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can't model the impact of EV switch, CNG migration, or load optimisation</a:t>
            </a:r>
            <a:endParaRPr lang="en-US" sz="1100" dirty="0"/>
          </a:p>
        </p:txBody>
      </p:sp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5400675"/>
            <a:ext cx="133350" cy="161925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6848475" y="5336381"/>
            <a:ext cx="23526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Carrier Data</a:t>
            </a:r>
            <a:endParaRPr lang="en-US" sz="1400" dirty="0"/>
          </a:p>
        </p:txBody>
      </p:sp>
      <p:sp>
        <p:nvSpPr>
          <p:cNvPr id="37" name="Text 13"/>
          <p:cNvSpPr/>
          <p:nvPr/>
        </p:nvSpPr>
        <p:spPr>
          <a:xfrm>
            <a:off x="6628923" y="5762625"/>
            <a:ext cx="514445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4,600+ carriers in India with zero standardised emission factor database</a:t>
            </a:r>
            <a:endParaRPr lang="en-US" sz="110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6725" y="647700"/>
            <a:ext cx="11258550" cy="28575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476250" y="381000"/>
            <a:ext cx="375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40" name="Text 15"/>
          <p:cNvSpPr/>
          <p:nvPr/>
        </p:nvSpPr>
        <p:spPr>
          <a:xfrm>
            <a:off x="476250" y="895350"/>
            <a:ext cx="112395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Road Freight Has a Carbon Blindspot</a:t>
            </a:r>
            <a:endParaRPr lang="en-US" sz="2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62075"/>
            <a:ext cx="4505325" cy="54959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575" y="2771775"/>
            <a:ext cx="41624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2533650"/>
            <a:ext cx="5524500" cy="18764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2847975"/>
            <a:ext cx="476250" cy="485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352925"/>
            <a:ext cx="5505450" cy="476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775" y="2533650"/>
            <a:ext cx="5524500" cy="18764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847975"/>
            <a:ext cx="476250" cy="4857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4352925"/>
            <a:ext cx="5505450" cy="476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4610100"/>
            <a:ext cx="5524500" cy="18764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4924425"/>
            <a:ext cx="476250" cy="4857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6438900"/>
            <a:ext cx="550545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775" y="4610100"/>
            <a:ext cx="5524500" cy="18764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4924425"/>
            <a:ext cx="476250" cy="4857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6438900"/>
            <a:ext cx="5505450" cy="38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350" y="2981325"/>
            <a:ext cx="247650" cy="219075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1400175" y="2919413"/>
            <a:ext cx="1657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Overview</a:t>
            </a:r>
            <a:endParaRPr lang="en-US" sz="1700" dirty="0"/>
          </a:p>
        </p:txBody>
      </p:sp>
      <p:sp>
        <p:nvSpPr>
          <p:cNvPr id="21" name="Text 1"/>
          <p:cNvSpPr/>
          <p:nvPr/>
        </p:nvSpPr>
        <p:spPr>
          <a:xfrm>
            <a:off x="790575" y="3471863"/>
            <a:ext cx="503172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KPIs, emission trends, lane risk matrix, carrier efficiency leaderboard</a:t>
            </a:r>
            <a:endParaRPr lang="en-US" sz="1200" dirty="0"/>
          </a:p>
        </p:txBody>
      </p:sp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0" y="2981325"/>
            <a:ext cx="171450" cy="219075"/>
          </a:xfrm>
          <a:prstGeom prst="rect">
            <a:avLst/>
          </a:prstGeom>
        </p:spPr>
      </p:pic>
      <p:sp>
        <p:nvSpPr>
          <p:cNvPr id="23" name="Text 2"/>
          <p:cNvSpPr/>
          <p:nvPr/>
        </p:nvSpPr>
        <p:spPr>
          <a:xfrm>
            <a:off x="7134225" y="2919413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 Estimator</a:t>
            </a:r>
            <a:endParaRPr lang="en-US" sz="1700" dirty="0"/>
          </a:p>
        </p:txBody>
      </p:sp>
      <p:sp>
        <p:nvSpPr>
          <p:cNvPr id="24" name="Text 3"/>
          <p:cNvSpPr/>
          <p:nvPr/>
        </p:nvSpPr>
        <p:spPr>
          <a:xfrm>
            <a:off x="6524625" y="3471863"/>
            <a:ext cx="475608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GLEC-framework calculator with 4,600 EPA carrier emission factors; per-shipment CO₂e</a:t>
            </a:r>
            <a:endParaRPr lang="en-US" sz="1200" dirty="0"/>
          </a:p>
        </p:txBody>
      </p:sp>
      <p:pic>
        <p:nvPicPr>
          <p:cNvPr id="25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" y="5057775"/>
            <a:ext cx="190500" cy="219075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>
            <a:off x="1400175" y="4998244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What-If Simulator</a:t>
            </a:r>
            <a:endParaRPr lang="en-US" sz="1700" dirty="0"/>
          </a:p>
        </p:txBody>
      </p:sp>
      <p:sp>
        <p:nvSpPr>
          <p:cNvPr id="27" name="Text 5"/>
          <p:cNvSpPr/>
          <p:nvPr/>
        </p:nvSpPr>
        <p:spPr>
          <a:xfrm>
            <a:off x="790575" y="5550694"/>
            <a:ext cx="49434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EV adoption, CNG migration, load optimisation, and route rationalisation</a:t>
            </a:r>
            <a:endParaRPr lang="en-US" sz="1200" dirty="0"/>
          </a:p>
        </p:txBody>
      </p:sp>
      <p:pic>
        <p:nvPicPr>
          <p:cNvPr id="28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9875" y="5057775"/>
            <a:ext cx="266700" cy="219075"/>
          </a:xfrm>
          <a:prstGeom prst="rect">
            <a:avLst/>
          </a:prstGeom>
        </p:spPr>
      </p:pic>
      <p:sp>
        <p:nvSpPr>
          <p:cNvPr id="29" name="Text 6"/>
          <p:cNvSpPr/>
          <p:nvPr/>
        </p:nvSpPr>
        <p:spPr>
          <a:xfrm>
            <a:off x="7134225" y="4998244"/>
            <a:ext cx="1847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Carbon Agent</a:t>
            </a:r>
            <a:endParaRPr lang="en-US" sz="1700" dirty="0"/>
          </a:p>
        </p:txBody>
      </p:sp>
      <p:sp>
        <p:nvSpPr>
          <p:cNvPr id="30" name="Text 7"/>
          <p:cNvSpPr/>
          <p:nvPr/>
        </p:nvSpPr>
        <p:spPr>
          <a:xfrm>
            <a:off x="6515101" y="5541169"/>
            <a:ext cx="461632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 2.5-72B powered natural language Q&amp;A, fleet narrative generation, and scenario storytelling</a:t>
            </a:r>
            <a:endParaRPr lang="en-US" sz="1200" dirty="0"/>
          </a:p>
        </p:txBody>
      </p:sp>
      <p:pic>
        <p:nvPicPr>
          <p:cNvPr id="31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6725" y="647700"/>
            <a:ext cx="11258550" cy="28575"/>
          </a:xfrm>
          <a:prstGeom prst="rect">
            <a:avLst/>
          </a:prstGeom>
        </p:spPr>
      </p:pic>
      <p:sp>
        <p:nvSpPr>
          <p:cNvPr id="32" name="Text 8"/>
          <p:cNvSpPr/>
          <p:nvPr/>
        </p:nvSpPr>
        <p:spPr>
          <a:xfrm>
            <a:off x="476250" y="381000"/>
            <a:ext cx="375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33" name="Text 9"/>
          <p:cNvSpPr/>
          <p:nvPr/>
        </p:nvSpPr>
        <p:spPr>
          <a:xfrm>
            <a:off x="476250" y="895350"/>
            <a:ext cx="112395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CarbonIQ — End-to-End Carbon Intelligence Platform</a:t>
            </a:r>
            <a:endParaRPr lang="en-US" sz="2900" dirty="0"/>
          </a:p>
        </p:txBody>
      </p:sp>
      <p:sp>
        <p:nvSpPr>
          <p:cNvPr id="34" name="Text 10"/>
          <p:cNvSpPr/>
          <p:nvPr/>
        </p:nvSpPr>
        <p:spPr>
          <a:xfrm>
            <a:off x="476250" y="1547813"/>
            <a:ext cx="10477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Transforms raw shipment data into actionable sustainability intelligence using GLEC-standard emission accounting, AI-powered insights, and real-time scenario simulation.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0"/>
            <a:ext cx="5114925" cy="5038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71775"/>
            <a:ext cx="41624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1619250"/>
            <a:ext cx="2752725" cy="495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1905000"/>
            <a:ext cx="323850" cy="3333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5467350"/>
            <a:ext cx="2181225" cy="781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700000">
            <a:off x="1552575" y="5619750"/>
            <a:ext cx="485775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6125" y="1619250"/>
            <a:ext cx="2752725" cy="495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1875" y="2038350"/>
            <a:ext cx="323850" cy="3333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1875" y="5467350"/>
            <a:ext cx="2181225" cy="781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1500" y="5848350"/>
            <a:ext cx="104775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5772150"/>
            <a:ext cx="104775" cy="2476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0100" y="5886450"/>
            <a:ext cx="104775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4400" y="5734050"/>
            <a:ext cx="104775" cy="2857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38700" y="5810250"/>
            <a:ext cx="104775" cy="2095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0" y="1619250"/>
            <a:ext cx="2752725" cy="4953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038350"/>
            <a:ext cx="323850" cy="3333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5467350"/>
            <a:ext cx="2181225" cy="7810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0825" y="5772150"/>
            <a:ext cx="1857375" cy="571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0825" y="5772150"/>
            <a:ext cx="1247775" cy="571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0825" y="5886450"/>
            <a:ext cx="1857375" cy="571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0825" y="5886450"/>
            <a:ext cx="942975" cy="571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175" y="1619250"/>
            <a:ext cx="2752725" cy="4953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05925" y="1905000"/>
            <a:ext cx="323850" cy="33337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925" y="5467350"/>
            <a:ext cx="2181225" cy="7810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01250" y="5810250"/>
            <a:ext cx="104775" cy="952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53650" y="5810250"/>
            <a:ext cx="638175" cy="952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1050" y="1990725"/>
            <a:ext cx="171450" cy="161925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1133475" y="1928813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Overview</a:t>
            </a:r>
            <a:endParaRPr lang="en-US" sz="1400" dirty="0"/>
          </a:p>
        </p:txBody>
      </p:sp>
      <p:sp>
        <p:nvSpPr>
          <p:cNvPr id="33" name="Text 1"/>
          <p:cNvSpPr/>
          <p:nvPr/>
        </p:nvSpPr>
        <p:spPr>
          <a:xfrm>
            <a:off x="904875" y="2452688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CO₂e KPI cards</a:t>
            </a:r>
            <a:endParaRPr lang="en-US" sz="1000" dirty="0"/>
          </a:p>
        </p:txBody>
      </p:sp>
      <p:sp>
        <p:nvSpPr>
          <p:cNvPr id="34" name="Text 2"/>
          <p:cNvSpPr/>
          <p:nvPr/>
        </p:nvSpPr>
        <p:spPr>
          <a:xfrm>
            <a:off x="904875" y="2767013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emission trend charts</a:t>
            </a:r>
            <a:endParaRPr lang="en-US" sz="1000" dirty="0"/>
          </a:p>
        </p:txBody>
      </p:sp>
      <p:sp>
        <p:nvSpPr>
          <p:cNvPr id="35" name="Text 3"/>
          <p:cNvSpPr/>
          <p:nvPr/>
        </p:nvSpPr>
        <p:spPr>
          <a:xfrm>
            <a:off x="904875" y="3081338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Lane risk heatmap (Low/Medium/High)</a:t>
            </a:r>
            <a:endParaRPr lang="en-US" sz="1000" dirty="0"/>
          </a:p>
        </p:txBody>
      </p:sp>
      <p:sp>
        <p:nvSpPr>
          <p:cNvPr id="36" name="Text 4"/>
          <p:cNvSpPr/>
          <p:nvPr/>
        </p:nvSpPr>
        <p:spPr>
          <a:xfrm>
            <a:off x="904875" y="3595688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Carrier efficiency leaderboard</a:t>
            </a:r>
            <a:endParaRPr lang="en-US" sz="1000" dirty="0"/>
          </a:p>
        </p:txBody>
      </p:sp>
      <p:sp>
        <p:nvSpPr>
          <p:cNvPr id="37" name="Text 5"/>
          <p:cNvSpPr/>
          <p:nvPr/>
        </p:nvSpPr>
        <p:spPr>
          <a:xfrm>
            <a:off x="904875" y="3910013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Fuel mix donut chart</a:t>
            </a:r>
            <a:endParaRPr lang="en-US" sz="1000" dirty="0"/>
          </a:p>
        </p:txBody>
      </p:sp>
      <p:pic>
        <p:nvPicPr>
          <p:cNvPr id="38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67125" y="2124075"/>
            <a:ext cx="133350" cy="161925"/>
          </a:xfrm>
          <a:prstGeom prst="rect">
            <a:avLst/>
          </a:prstGeom>
        </p:spPr>
      </p:pic>
      <p:sp>
        <p:nvSpPr>
          <p:cNvPr id="39" name="Text 6"/>
          <p:cNvSpPr/>
          <p:nvPr/>
        </p:nvSpPr>
        <p:spPr>
          <a:xfrm>
            <a:off x="3997672" y="1919288"/>
            <a:ext cx="174590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 Estimator</a:t>
            </a:r>
            <a:endParaRPr lang="en-US" sz="1400" dirty="0"/>
          </a:p>
        </p:txBody>
      </p:sp>
      <p:sp>
        <p:nvSpPr>
          <p:cNvPr id="40" name="Text 7"/>
          <p:cNvSpPr/>
          <p:nvPr/>
        </p:nvSpPr>
        <p:spPr>
          <a:xfrm>
            <a:off x="3771900" y="2719388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Per-shipment CO₂e calculation</a:t>
            </a:r>
            <a:endParaRPr lang="en-US" sz="1000" dirty="0"/>
          </a:p>
        </p:txBody>
      </p:sp>
      <p:sp>
        <p:nvSpPr>
          <p:cNvPr id="41" name="Text 8"/>
          <p:cNvSpPr/>
          <p:nvPr/>
        </p:nvSpPr>
        <p:spPr>
          <a:xfrm>
            <a:off x="3771900" y="3033713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GLEC framework compliance</a:t>
            </a:r>
            <a:endParaRPr lang="en-US" sz="1000" dirty="0"/>
          </a:p>
        </p:txBody>
      </p:sp>
      <p:sp>
        <p:nvSpPr>
          <p:cNvPr id="42" name="Text 9"/>
          <p:cNvSpPr/>
          <p:nvPr/>
        </p:nvSpPr>
        <p:spPr>
          <a:xfrm>
            <a:off x="3771900" y="3348038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EF lookup by carrier/fuel/vehicle type</a:t>
            </a:r>
            <a:endParaRPr lang="en-US" sz="1000" dirty="0"/>
          </a:p>
        </p:txBody>
      </p:sp>
      <p:sp>
        <p:nvSpPr>
          <p:cNvPr id="43" name="Text 10"/>
          <p:cNvSpPr/>
          <p:nvPr/>
        </p:nvSpPr>
        <p:spPr>
          <a:xfrm>
            <a:off x="3771900" y="3862387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factor adjustment</a:t>
            </a:r>
            <a:endParaRPr lang="en-US" sz="1000" dirty="0"/>
          </a:p>
        </p:txBody>
      </p:sp>
      <p:sp>
        <p:nvSpPr>
          <p:cNvPr id="44" name="Text 11"/>
          <p:cNvSpPr/>
          <p:nvPr/>
        </p:nvSpPr>
        <p:spPr>
          <a:xfrm>
            <a:off x="3771900" y="4176712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prediction for CSV upload</a:t>
            </a:r>
            <a:endParaRPr lang="en-US" sz="1000" dirty="0"/>
          </a:p>
        </p:txBody>
      </p:sp>
      <p:pic>
        <p:nvPicPr>
          <p:cNvPr id="45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2124075"/>
            <a:ext cx="161925" cy="161925"/>
          </a:xfrm>
          <a:prstGeom prst="rect">
            <a:avLst/>
          </a:prstGeom>
        </p:spPr>
      </p:pic>
      <p:sp>
        <p:nvSpPr>
          <p:cNvPr id="46" name="Text 12"/>
          <p:cNvSpPr/>
          <p:nvPr/>
        </p:nvSpPr>
        <p:spPr>
          <a:xfrm>
            <a:off x="6864697" y="1919288"/>
            <a:ext cx="174590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Simulator</a:t>
            </a:r>
            <a:endParaRPr lang="en-US" sz="1400" dirty="0"/>
          </a:p>
        </p:txBody>
      </p:sp>
      <p:sp>
        <p:nvSpPr>
          <p:cNvPr id="47" name="Text 13"/>
          <p:cNvSpPr/>
          <p:nvPr/>
        </p:nvSpPr>
        <p:spPr>
          <a:xfrm>
            <a:off x="6638925" y="2719388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 fleet adoption lever (% of diesel)</a:t>
            </a:r>
            <a:endParaRPr lang="en-US" sz="1000" dirty="0"/>
          </a:p>
        </p:txBody>
      </p:sp>
      <p:sp>
        <p:nvSpPr>
          <p:cNvPr id="48" name="Text 14"/>
          <p:cNvSpPr/>
          <p:nvPr/>
        </p:nvSpPr>
        <p:spPr>
          <a:xfrm>
            <a:off x="6638925" y="3233738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CNG migration lever</a:t>
            </a:r>
            <a:endParaRPr lang="en-US" sz="1000" dirty="0"/>
          </a:p>
        </p:txBody>
      </p:sp>
      <p:sp>
        <p:nvSpPr>
          <p:cNvPr id="49" name="Text 15"/>
          <p:cNvSpPr/>
          <p:nvPr/>
        </p:nvSpPr>
        <p:spPr>
          <a:xfrm>
            <a:off x="6638925" y="3548063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factor improvement</a:t>
            </a:r>
            <a:endParaRPr lang="en-US" sz="1000" dirty="0"/>
          </a:p>
        </p:txBody>
      </p:sp>
      <p:sp>
        <p:nvSpPr>
          <p:cNvPr id="50" name="Text 16"/>
          <p:cNvSpPr/>
          <p:nvPr/>
        </p:nvSpPr>
        <p:spPr>
          <a:xfrm>
            <a:off x="6638925" y="3862387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distance reduction</a:t>
            </a:r>
            <a:endParaRPr lang="en-US" sz="1000" dirty="0"/>
          </a:p>
        </p:txBody>
      </p:sp>
      <p:sp>
        <p:nvSpPr>
          <p:cNvPr id="51" name="Text 17"/>
          <p:cNvSpPr/>
          <p:nvPr/>
        </p:nvSpPr>
        <p:spPr>
          <a:xfrm>
            <a:off x="6638925" y="4176712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Combined multi-lever waterfall chart</a:t>
            </a:r>
            <a:endParaRPr lang="en-US" sz="1000" dirty="0"/>
          </a:p>
        </p:txBody>
      </p:sp>
      <p:pic>
        <p:nvPicPr>
          <p:cNvPr id="52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72600" y="1990725"/>
            <a:ext cx="190500" cy="161925"/>
          </a:xfrm>
          <a:prstGeom prst="rect">
            <a:avLst/>
          </a:prstGeom>
        </p:spPr>
      </p:pic>
      <p:sp>
        <p:nvSpPr>
          <p:cNvPr id="53" name="Text 18"/>
          <p:cNvSpPr/>
          <p:nvPr/>
        </p:nvSpPr>
        <p:spPr>
          <a:xfrm>
            <a:off x="9734550" y="1928813"/>
            <a:ext cx="1533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Carbon Agent</a:t>
            </a:r>
            <a:endParaRPr lang="en-US" sz="1400" dirty="0"/>
          </a:p>
        </p:txBody>
      </p:sp>
      <p:sp>
        <p:nvSpPr>
          <p:cNvPr id="54" name="Text 19"/>
          <p:cNvSpPr/>
          <p:nvPr/>
        </p:nvSpPr>
        <p:spPr>
          <a:xfrm>
            <a:off x="9505950" y="2452688"/>
            <a:ext cx="216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fleet Q&amp;A</a:t>
            </a:r>
            <a:endParaRPr lang="en-US" sz="1000" dirty="0"/>
          </a:p>
        </p:txBody>
      </p:sp>
      <p:sp>
        <p:nvSpPr>
          <p:cNvPr id="55" name="Text 20"/>
          <p:cNvSpPr/>
          <p:nvPr/>
        </p:nvSpPr>
        <p:spPr>
          <a:xfrm>
            <a:off x="9505950" y="2767013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executive narrative generation</a:t>
            </a:r>
            <a:endParaRPr lang="en-US" sz="1000" dirty="0"/>
          </a:p>
        </p:txBody>
      </p:sp>
      <p:sp>
        <p:nvSpPr>
          <p:cNvPr id="56" name="Text 21"/>
          <p:cNvSpPr/>
          <p:nvPr/>
        </p:nvSpPr>
        <p:spPr>
          <a:xfrm>
            <a:off x="9505950" y="3281363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storytelling with projected numbers</a:t>
            </a:r>
            <a:endParaRPr lang="en-US" sz="1000" dirty="0"/>
          </a:p>
        </p:txBody>
      </p:sp>
      <p:sp>
        <p:nvSpPr>
          <p:cNvPr id="57" name="Text 22"/>
          <p:cNvSpPr/>
          <p:nvPr/>
        </p:nvSpPr>
        <p:spPr>
          <a:xfrm>
            <a:off x="9505950" y="3795713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 2.5-72B via HuggingFace API</a:t>
            </a:r>
            <a:endParaRPr lang="en-US" sz="1000" dirty="0"/>
          </a:p>
        </p:txBody>
      </p:sp>
      <p:sp>
        <p:nvSpPr>
          <p:cNvPr id="58" name="Text 23"/>
          <p:cNvSpPr/>
          <p:nvPr/>
        </p:nvSpPr>
        <p:spPr>
          <a:xfrm>
            <a:off x="714375" y="245268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59" name="Text 24"/>
          <p:cNvSpPr/>
          <p:nvPr/>
        </p:nvSpPr>
        <p:spPr>
          <a:xfrm>
            <a:off x="714375" y="276701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0" name="Text 25"/>
          <p:cNvSpPr/>
          <p:nvPr/>
        </p:nvSpPr>
        <p:spPr>
          <a:xfrm>
            <a:off x="714375" y="308133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1" name="Text 26"/>
          <p:cNvSpPr/>
          <p:nvPr/>
        </p:nvSpPr>
        <p:spPr>
          <a:xfrm>
            <a:off x="714375" y="359568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2" name="Text 27"/>
          <p:cNvSpPr/>
          <p:nvPr/>
        </p:nvSpPr>
        <p:spPr>
          <a:xfrm>
            <a:off x="714375" y="391001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3" name="Text 28"/>
          <p:cNvSpPr/>
          <p:nvPr/>
        </p:nvSpPr>
        <p:spPr>
          <a:xfrm>
            <a:off x="3581400" y="271938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4" name="Text 29"/>
          <p:cNvSpPr/>
          <p:nvPr/>
        </p:nvSpPr>
        <p:spPr>
          <a:xfrm>
            <a:off x="3581400" y="303371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5" name="Text 30"/>
          <p:cNvSpPr/>
          <p:nvPr/>
        </p:nvSpPr>
        <p:spPr>
          <a:xfrm>
            <a:off x="3581400" y="334803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6" name="Text 31"/>
          <p:cNvSpPr/>
          <p:nvPr/>
        </p:nvSpPr>
        <p:spPr>
          <a:xfrm>
            <a:off x="3581400" y="3862387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7" name="Text 32"/>
          <p:cNvSpPr/>
          <p:nvPr/>
        </p:nvSpPr>
        <p:spPr>
          <a:xfrm>
            <a:off x="3581400" y="4176712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8" name="Text 33"/>
          <p:cNvSpPr/>
          <p:nvPr/>
        </p:nvSpPr>
        <p:spPr>
          <a:xfrm>
            <a:off x="6448425" y="271938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69" name="Text 34"/>
          <p:cNvSpPr/>
          <p:nvPr/>
        </p:nvSpPr>
        <p:spPr>
          <a:xfrm>
            <a:off x="6448425" y="323373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0" name="Text 35"/>
          <p:cNvSpPr/>
          <p:nvPr/>
        </p:nvSpPr>
        <p:spPr>
          <a:xfrm>
            <a:off x="6448425" y="354806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1" name="Text 36"/>
          <p:cNvSpPr/>
          <p:nvPr/>
        </p:nvSpPr>
        <p:spPr>
          <a:xfrm>
            <a:off x="6448425" y="3862387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2" name="Text 37"/>
          <p:cNvSpPr/>
          <p:nvPr/>
        </p:nvSpPr>
        <p:spPr>
          <a:xfrm>
            <a:off x="6448425" y="4176712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3" name="Text 38"/>
          <p:cNvSpPr/>
          <p:nvPr/>
        </p:nvSpPr>
        <p:spPr>
          <a:xfrm>
            <a:off x="9315450" y="2452688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4" name="Text 39"/>
          <p:cNvSpPr/>
          <p:nvPr/>
        </p:nvSpPr>
        <p:spPr>
          <a:xfrm>
            <a:off x="9315450" y="276701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5" name="Text 40"/>
          <p:cNvSpPr/>
          <p:nvPr/>
        </p:nvSpPr>
        <p:spPr>
          <a:xfrm>
            <a:off x="9315450" y="328136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6" name="Text 41"/>
          <p:cNvSpPr/>
          <p:nvPr/>
        </p:nvSpPr>
        <p:spPr>
          <a:xfrm>
            <a:off x="9315450" y="379571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7" name="Text 42"/>
          <p:cNvSpPr/>
          <p:nvPr/>
        </p:nvSpPr>
        <p:spPr>
          <a:xfrm>
            <a:off x="9315450" y="4310063"/>
            <a:ext cx="12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000" dirty="0"/>
          </a:p>
        </p:txBody>
      </p:sp>
      <p:sp>
        <p:nvSpPr>
          <p:cNvPr id="78" name="Text 43"/>
          <p:cNvSpPr/>
          <p:nvPr/>
        </p:nvSpPr>
        <p:spPr>
          <a:xfrm>
            <a:off x="9505950" y="4310063"/>
            <a:ext cx="21688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fallback when token is absent</a:t>
            </a:r>
            <a:endParaRPr lang="en-US" sz="1000" dirty="0"/>
          </a:p>
        </p:txBody>
      </p:sp>
      <p:pic>
        <p:nvPicPr>
          <p:cNvPr id="79" name="Image 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6725" y="647700"/>
            <a:ext cx="11258550" cy="28575"/>
          </a:xfrm>
          <a:prstGeom prst="rect">
            <a:avLst/>
          </a:prstGeom>
        </p:spPr>
      </p:pic>
      <p:sp>
        <p:nvSpPr>
          <p:cNvPr id="80" name="Text 44"/>
          <p:cNvSpPr/>
          <p:nvPr/>
        </p:nvSpPr>
        <p:spPr>
          <a:xfrm>
            <a:off x="476250" y="381000"/>
            <a:ext cx="375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81" name="Text 45"/>
          <p:cNvSpPr/>
          <p:nvPr/>
        </p:nvSpPr>
        <p:spPr>
          <a:xfrm>
            <a:off x="476250" y="895350"/>
            <a:ext cx="112395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Production-Grade Interface — Full Analytics Suite</a:t>
            </a:r>
            <a:endParaRPr lang="en-US" sz="2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0"/>
            <a:ext cx="5114925" cy="5038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71775"/>
            <a:ext cx="41624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1647825"/>
            <a:ext cx="2305050" cy="9810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600" y="1600200"/>
            <a:ext cx="8877300" cy="11144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2750" y="1657350"/>
            <a:ext cx="57150" cy="9620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2550" y="1933575"/>
            <a:ext cx="38100" cy="409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7525" y="1933575"/>
            <a:ext cx="38100" cy="409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3425" y="1933575"/>
            <a:ext cx="38100" cy="409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2175" y="1933575"/>
            <a:ext cx="38100" cy="4095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2790825"/>
            <a:ext cx="2305050" cy="9810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600" y="2743200"/>
            <a:ext cx="8877300" cy="11144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52750" y="2800350"/>
            <a:ext cx="57150" cy="9620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1650" y="3076575"/>
            <a:ext cx="38100" cy="4095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6325" y="3076575"/>
            <a:ext cx="38100" cy="4095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3933825"/>
            <a:ext cx="2305050" cy="9810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600" y="3886200"/>
            <a:ext cx="8877300" cy="11144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2750" y="3943350"/>
            <a:ext cx="57150" cy="9620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4400" y="4219575"/>
            <a:ext cx="38100" cy="40957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2225" y="4219575"/>
            <a:ext cx="28575" cy="40957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4325" y="4219575"/>
            <a:ext cx="28575" cy="40957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5050" y="4219575"/>
            <a:ext cx="38100" cy="40957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5076825"/>
            <a:ext cx="2305050" cy="98107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600" y="5029200"/>
            <a:ext cx="8877300" cy="111442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2750" y="5086350"/>
            <a:ext cx="57150" cy="96202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8700" y="5362575"/>
            <a:ext cx="38100" cy="40957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2275" y="5362575"/>
            <a:ext cx="38100" cy="409575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5362575"/>
            <a:ext cx="38100" cy="409575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1552575" y="1895475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</a:t>
            </a:r>
            <a:endParaRPr lang="en-US" sz="1400" dirty="0"/>
          </a:p>
        </p:txBody>
      </p:sp>
      <p:sp>
        <p:nvSpPr>
          <p:cNvPr id="33" name="Text 1"/>
          <p:cNvSpPr/>
          <p:nvPr/>
        </p:nvSpPr>
        <p:spPr>
          <a:xfrm>
            <a:off x="1552575" y="2181225"/>
            <a:ext cx="1068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</a:t>
            </a:r>
            <a:endParaRPr lang="en-US" sz="1000" dirty="0"/>
          </a:p>
        </p:txBody>
      </p:sp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7550" y="2028825"/>
            <a:ext cx="238125" cy="219075"/>
          </a:xfrm>
          <a:prstGeom prst="rect">
            <a:avLst/>
          </a:prstGeom>
        </p:spPr>
      </p:pic>
      <p:sp>
        <p:nvSpPr>
          <p:cNvPr id="35" name="Text 2"/>
          <p:cNvSpPr/>
          <p:nvPr/>
        </p:nvSpPr>
        <p:spPr>
          <a:xfrm>
            <a:off x="3600450" y="1881187"/>
            <a:ext cx="156262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Web App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5335042" y="1924050"/>
            <a:ext cx="153544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glassmorphism UI</a:t>
            </a:r>
            <a:endParaRPr lang="en-US" sz="1000" dirty="0"/>
          </a:p>
        </p:txBody>
      </p:sp>
      <p:sp>
        <p:nvSpPr>
          <p:cNvPr id="37" name="Text 4"/>
          <p:cNvSpPr/>
          <p:nvPr/>
        </p:nvSpPr>
        <p:spPr>
          <a:xfrm>
            <a:off x="7044928" y="1924050"/>
            <a:ext cx="12828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navigation pages</a:t>
            </a:r>
            <a:endParaRPr lang="en-US" sz="1000" dirty="0"/>
          </a:p>
        </p:txBody>
      </p:sp>
      <p:sp>
        <p:nvSpPr>
          <p:cNvPr id="38" name="Text 5"/>
          <p:cNvSpPr/>
          <p:nvPr/>
        </p:nvSpPr>
        <p:spPr>
          <a:xfrm>
            <a:off x="8525173" y="1924050"/>
            <a:ext cx="12324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AI side panel</a:t>
            </a:r>
            <a:endParaRPr lang="en-US" sz="1000" dirty="0"/>
          </a:p>
        </p:txBody>
      </p:sp>
      <p:sp>
        <p:nvSpPr>
          <p:cNvPr id="39" name="Text 6"/>
          <p:cNvSpPr/>
          <p:nvPr/>
        </p:nvSpPr>
        <p:spPr>
          <a:xfrm>
            <a:off x="9959578" y="1924050"/>
            <a:ext cx="158603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Plotly interactive charts</a:t>
            </a:r>
            <a:endParaRPr lang="en-US" sz="1000" dirty="0"/>
          </a:p>
        </p:txBody>
      </p:sp>
      <p:sp>
        <p:nvSpPr>
          <p:cNvPr id="40" name="Text 7"/>
          <p:cNvSpPr/>
          <p:nvPr/>
        </p:nvSpPr>
        <p:spPr>
          <a:xfrm>
            <a:off x="1657350" y="3038475"/>
            <a:ext cx="8667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</a:t>
            </a:r>
            <a:endParaRPr lang="en-US" sz="1400" dirty="0"/>
          </a:p>
        </p:txBody>
      </p:sp>
      <p:sp>
        <p:nvSpPr>
          <p:cNvPr id="41" name="Text 8"/>
          <p:cNvSpPr/>
          <p:nvPr/>
        </p:nvSpPr>
        <p:spPr>
          <a:xfrm>
            <a:off x="1657350" y="3324225"/>
            <a:ext cx="953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</a:t>
            </a:r>
            <a:endParaRPr lang="en-US" sz="1000" dirty="0"/>
          </a:p>
        </p:txBody>
      </p:sp>
      <p:pic>
        <p:nvPicPr>
          <p:cNvPr id="42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57550" y="3171825"/>
            <a:ext cx="190500" cy="219075"/>
          </a:xfrm>
          <a:prstGeom prst="rect">
            <a:avLst/>
          </a:prstGeom>
        </p:spPr>
      </p:pic>
      <p:sp>
        <p:nvSpPr>
          <p:cNvPr id="43" name="Text 9"/>
          <p:cNvSpPr/>
          <p:nvPr/>
        </p:nvSpPr>
        <p:spPr>
          <a:xfrm>
            <a:off x="3552825" y="3152775"/>
            <a:ext cx="18545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Business Logic</a:t>
            </a:r>
            <a:endParaRPr lang="en-US" sz="1200" dirty="0"/>
          </a:p>
        </p:txBody>
      </p:sp>
      <p:pic>
        <p:nvPicPr>
          <p:cNvPr id="4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43600" y="3009900"/>
            <a:ext cx="2428875" cy="266700"/>
          </a:xfrm>
          <a:prstGeom prst="rect">
            <a:avLst/>
          </a:prstGeom>
        </p:spPr>
      </p:pic>
      <p:sp>
        <p:nvSpPr>
          <p:cNvPr id="45" name="Text 10"/>
          <p:cNvSpPr/>
          <p:nvPr/>
        </p:nvSpPr>
        <p:spPr>
          <a:xfrm>
            <a:off x="6032748" y="3038475"/>
            <a:ext cx="2248346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predictor.py (GLEC calculator)</a:t>
            </a:r>
            <a:endParaRPr lang="en-US" sz="900" dirty="0"/>
          </a:p>
        </p:txBody>
      </p:sp>
      <p:pic>
        <p:nvPicPr>
          <p:cNvPr id="46" name="Image 3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3600" y="3286125"/>
            <a:ext cx="2428875" cy="266700"/>
          </a:xfrm>
          <a:prstGeom prst="rect">
            <a:avLst/>
          </a:prstGeom>
        </p:spPr>
      </p:pic>
      <p:sp>
        <p:nvSpPr>
          <p:cNvPr id="47" name="Text 11"/>
          <p:cNvSpPr/>
          <p:nvPr/>
        </p:nvSpPr>
        <p:spPr>
          <a:xfrm>
            <a:off x="6032748" y="3319463"/>
            <a:ext cx="2248346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analytics.py (KPI engine)</a:t>
            </a:r>
            <a:endParaRPr lang="en-US" sz="900" dirty="0"/>
          </a:p>
        </p:txBody>
      </p:sp>
      <p:pic>
        <p:nvPicPr>
          <p:cNvPr id="48" name="Image 3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58275" y="3009900"/>
            <a:ext cx="2352675" cy="266700"/>
          </a:xfrm>
          <a:prstGeom prst="rect">
            <a:avLst/>
          </a:prstGeom>
        </p:spPr>
      </p:pic>
      <p:sp>
        <p:nvSpPr>
          <p:cNvPr id="49" name="Text 12"/>
          <p:cNvSpPr/>
          <p:nvPr/>
        </p:nvSpPr>
        <p:spPr>
          <a:xfrm>
            <a:off x="9151144" y="3038475"/>
            <a:ext cx="2174081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simulator.py (what-if engine)</a:t>
            </a:r>
            <a:endParaRPr lang="en-US" sz="900" dirty="0"/>
          </a:p>
        </p:txBody>
      </p:sp>
      <p:pic>
        <p:nvPicPr>
          <p:cNvPr id="50" name="Image 3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58275" y="3286125"/>
            <a:ext cx="2352675" cy="266700"/>
          </a:xfrm>
          <a:prstGeom prst="rect">
            <a:avLst/>
          </a:prstGeom>
        </p:spPr>
      </p:pic>
      <p:sp>
        <p:nvSpPr>
          <p:cNvPr id="51" name="Text 13"/>
          <p:cNvSpPr/>
          <p:nvPr/>
        </p:nvSpPr>
        <p:spPr>
          <a:xfrm>
            <a:off x="9151144" y="3319463"/>
            <a:ext cx="2174081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ai_insights.py (AI bridge)</a:t>
            </a:r>
            <a:endParaRPr lang="en-US" sz="900" dirty="0"/>
          </a:p>
        </p:txBody>
      </p:sp>
      <p:sp>
        <p:nvSpPr>
          <p:cNvPr id="52" name="Text 14"/>
          <p:cNvSpPr/>
          <p:nvPr/>
        </p:nvSpPr>
        <p:spPr>
          <a:xfrm>
            <a:off x="1695450" y="4181475"/>
            <a:ext cx="8286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</a:t>
            </a:r>
            <a:endParaRPr lang="en-US" sz="1400" dirty="0"/>
          </a:p>
        </p:txBody>
      </p:sp>
      <p:sp>
        <p:nvSpPr>
          <p:cNvPr id="53" name="Text 15"/>
          <p:cNvSpPr/>
          <p:nvPr/>
        </p:nvSpPr>
        <p:spPr>
          <a:xfrm>
            <a:off x="1695450" y="4467225"/>
            <a:ext cx="9115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000" dirty="0"/>
          </a:p>
        </p:txBody>
      </p:sp>
      <p:pic>
        <p:nvPicPr>
          <p:cNvPr id="54" name="Image 3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57550" y="4314825"/>
            <a:ext cx="190500" cy="219075"/>
          </a:xfrm>
          <a:prstGeom prst="rect">
            <a:avLst/>
          </a:prstGeom>
        </p:spPr>
      </p:pic>
      <p:sp>
        <p:nvSpPr>
          <p:cNvPr id="55" name="Text 16"/>
          <p:cNvSpPr/>
          <p:nvPr/>
        </p:nvSpPr>
        <p:spPr>
          <a:xfrm>
            <a:off x="3552825" y="4167188"/>
            <a:ext cx="11364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&amp; Models</a:t>
            </a:r>
            <a:endParaRPr lang="en-US" sz="1200" dirty="0"/>
          </a:p>
        </p:txBody>
      </p:sp>
      <p:sp>
        <p:nvSpPr>
          <p:cNvPr id="56" name="Text 17"/>
          <p:cNvSpPr/>
          <p:nvPr/>
        </p:nvSpPr>
        <p:spPr>
          <a:xfrm>
            <a:off x="4898082" y="4124325"/>
            <a:ext cx="1466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sample_shipments.csv
</a:t>
            </a: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(800 rows, 13 Indian cities)</a:t>
            </a:r>
            <a:endParaRPr lang="en-US" sz="1000" dirty="0"/>
          </a:p>
        </p:txBody>
      </p:sp>
      <p:sp>
        <p:nvSpPr>
          <p:cNvPr id="57" name="Text 18"/>
          <p:cNvSpPr/>
          <p:nvPr/>
        </p:nvSpPr>
        <p:spPr>
          <a:xfrm>
            <a:off x="6543675" y="4224338"/>
            <a:ext cx="13725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emission_factors.csv
</a:t>
            </a: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(BEIS/GLEC EFs)</a:t>
            </a:r>
            <a:endParaRPr lang="en-US" sz="1000" dirty="0"/>
          </a:p>
        </p:txBody>
      </p:sp>
      <p:sp>
        <p:nvSpPr>
          <p:cNvPr id="58" name="Text 19"/>
          <p:cNvSpPr/>
          <p:nvPr/>
        </p:nvSpPr>
        <p:spPr>
          <a:xfrm>
            <a:off x="8103543" y="4224338"/>
            <a:ext cx="18494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EPA SmartWay 4,600 carrier profiles</a:t>
            </a:r>
            <a:endParaRPr lang="en-US" sz="1000" dirty="0"/>
          </a:p>
        </p:txBody>
      </p:sp>
      <p:sp>
        <p:nvSpPr>
          <p:cNvPr id="59" name="Text 20"/>
          <p:cNvSpPr/>
          <p:nvPr/>
        </p:nvSpPr>
        <p:spPr>
          <a:xfrm>
            <a:off x="10096946" y="4224338"/>
            <a:ext cx="14349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carrier_performance lookup</a:t>
            </a:r>
            <a:endParaRPr lang="en-US" sz="1000" dirty="0"/>
          </a:p>
        </p:txBody>
      </p:sp>
      <p:sp>
        <p:nvSpPr>
          <p:cNvPr id="60" name="Text 21"/>
          <p:cNvSpPr/>
          <p:nvPr/>
        </p:nvSpPr>
        <p:spPr>
          <a:xfrm>
            <a:off x="1695450" y="5324475"/>
            <a:ext cx="8286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4</a:t>
            </a:r>
            <a:endParaRPr lang="en-US" sz="1400" dirty="0"/>
          </a:p>
        </p:txBody>
      </p:sp>
      <p:sp>
        <p:nvSpPr>
          <p:cNvPr id="61" name="Text 22"/>
          <p:cNvSpPr/>
          <p:nvPr/>
        </p:nvSpPr>
        <p:spPr>
          <a:xfrm>
            <a:off x="1695450" y="5610225"/>
            <a:ext cx="9115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000" dirty="0"/>
          </a:p>
        </p:txBody>
      </p:sp>
      <p:pic>
        <p:nvPicPr>
          <p:cNvPr id="62" name="Image 3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57550" y="5457825"/>
            <a:ext cx="209550" cy="219075"/>
          </a:xfrm>
          <a:prstGeom prst="rect">
            <a:avLst/>
          </a:prstGeom>
        </p:spPr>
      </p:pic>
      <p:sp>
        <p:nvSpPr>
          <p:cNvPr id="63" name="Text 23"/>
          <p:cNvSpPr/>
          <p:nvPr/>
        </p:nvSpPr>
        <p:spPr>
          <a:xfrm>
            <a:off x="3571875" y="5310188"/>
            <a:ext cx="12450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HuggingFace API</a:t>
            </a:r>
            <a:endParaRPr lang="en-US" sz="1200" dirty="0"/>
          </a:p>
        </p:txBody>
      </p:sp>
      <p:sp>
        <p:nvSpPr>
          <p:cNvPr id="64" name="Text 24"/>
          <p:cNvSpPr/>
          <p:nvPr/>
        </p:nvSpPr>
        <p:spPr>
          <a:xfrm>
            <a:off x="5016847" y="5353050"/>
            <a:ext cx="17834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Qwen/Qwen2.5-72B-Instruct</a:t>
            </a:r>
            <a:endParaRPr lang="en-US" sz="1000" dirty="0"/>
          </a:p>
        </p:txBody>
      </p:sp>
      <p:pic>
        <p:nvPicPr>
          <p:cNvPr id="65" name="Image 3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34200" y="5295900"/>
            <a:ext cx="2543175" cy="542925"/>
          </a:xfrm>
          <a:prstGeom prst="rect">
            <a:avLst/>
          </a:prstGeom>
        </p:spPr>
      </p:pic>
      <p:sp>
        <p:nvSpPr>
          <p:cNvPr id="66" name="Text 25"/>
          <p:cNvSpPr/>
          <p:nvPr/>
        </p:nvSpPr>
        <p:spPr>
          <a:xfrm>
            <a:off x="7027515" y="5343525"/>
            <a:ext cx="236324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InferenceClient chat_completion</a:t>
            </a:r>
            <a:endParaRPr lang="en-US" sz="1000" dirty="0"/>
          </a:p>
        </p:txBody>
      </p:sp>
      <p:sp>
        <p:nvSpPr>
          <p:cNvPr id="67" name="Text 26"/>
          <p:cNvSpPr/>
          <p:nvPr/>
        </p:nvSpPr>
        <p:spPr>
          <a:xfrm>
            <a:off x="9780091" y="5353050"/>
            <a:ext cx="17834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summary + Q&amp;A agents</a:t>
            </a:r>
            <a:endParaRPr lang="en-US" sz="1000" dirty="0"/>
          </a:p>
        </p:txBody>
      </p:sp>
      <p:pic>
        <p:nvPicPr>
          <p:cNvPr id="68" name="Image 3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0" y="6372225"/>
            <a:ext cx="6010275" cy="400050"/>
          </a:xfrm>
          <a:prstGeom prst="rect">
            <a:avLst/>
          </a:prstGeom>
        </p:spPr>
      </p:pic>
      <p:sp>
        <p:nvSpPr>
          <p:cNvPr id="69" name="Text 27"/>
          <p:cNvSpPr/>
          <p:nvPr/>
        </p:nvSpPr>
        <p:spPr>
          <a:xfrm>
            <a:off x="6112222" y="6491288"/>
            <a:ext cx="5441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layers communicate via Python imports; API keys managed via .env</a:t>
            </a:r>
            <a:endParaRPr lang="en-US" sz="900" dirty="0"/>
          </a:p>
        </p:txBody>
      </p:sp>
      <p:pic>
        <p:nvPicPr>
          <p:cNvPr id="70" name="Image 4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76925" y="6505575"/>
            <a:ext cx="171450" cy="133350"/>
          </a:xfrm>
          <a:prstGeom prst="rect">
            <a:avLst/>
          </a:prstGeom>
        </p:spPr>
      </p:pic>
      <p:pic>
        <p:nvPicPr>
          <p:cNvPr id="71" name="Image 4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6725" y="647700"/>
            <a:ext cx="11258550" cy="28575"/>
          </a:xfrm>
          <a:prstGeom prst="rect">
            <a:avLst/>
          </a:prstGeom>
        </p:spPr>
      </p:pic>
      <p:sp>
        <p:nvSpPr>
          <p:cNvPr id="72" name="Text 28"/>
          <p:cNvSpPr/>
          <p:nvPr/>
        </p:nvSpPr>
        <p:spPr>
          <a:xfrm>
            <a:off x="476250" y="381000"/>
            <a:ext cx="375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73" name="Text 29"/>
          <p:cNvSpPr/>
          <p:nvPr/>
        </p:nvSpPr>
        <p:spPr>
          <a:xfrm>
            <a:off x="476250" y="895350"/>
            <a:ext cx="112395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4-Layer Architecture — UI → Logic → Data → AI</a:t>
            </a:r>
            <a:endParaRPr lang="en-US" sz="2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676275"/>
            <a:ext cx="4781550" cy="4781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275" y="447675"/>
            <a:ext cx="5734050" cy="5734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2009775"/>
            <a:ext cx="2590800" cy="41624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600325"/>
            <a:ext cx="476250" cy="485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2009775"/>
            <a:ext cx="2600325" cy="41624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9500" y="2600325"/>
            <a:ext cx="485775" cy="485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7925" y="2009775"/>
            <a:ext cx="2600325" cy="41624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2600325"/>
            <a:ext cx="485775" cy="4857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2100" y="2009775"/>
            <a:ext cx="2590800" cy="41624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7850" y="2600325"/>
            <a:ext cx="476250" cy="4857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550" y="1762125"/>
            <a:ext cx="628650" cy="73342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14375" y="1888331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highlight>
                  <a:srgbClr val="00C49A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pic>
        <p:nvPicPr>
          <p:cNvPr id="17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2733675"/>
            <a:ext cx="209550" cy="219075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714375" y="3221831"/>
            <a:ext cx="2000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19" name="Text 2"/>
          <p:cNvSpPr/>
          <p:nvPr/>
        </p:nvSpPr>
        <p:spPr>
          <a:xfrm>
            <a:off x="714375" y="3612356"/>
            <a:ext cx="2200275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fleet CSV or use demo dataset (800 shipments with origin, destination, vehicle type, fuel, distance, weight, vehicle age)</a:t>
            </a:r>
            <a:endParaRPr lang="en-US" sz="1000" dirty="0"/>
          </a:p>
        </p:txBody>
      </p:sp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86100" y="3943350"/>
            <a:ext cx="171450" cy="257175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05200" y="1762125"/>
            <a:ext cx="638175" cy="733425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3635425" y="1888331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3B82F6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pic>
        <p:nvPicPr>
          <p:cNvPr id="23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81425" y="2733675"/>
            <a:ext cx="171450" cy="219075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3635425" y="3221831"/>
            <a:ext cx="2000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 Calculation</a:t>
            </a:r>
            <a:endParaRPr lang="en-US" sz="1400" dirty="0"/>
          </a:p>
        </p:txBody>
      </p:sp>
      <p:sp>
        <p:nvSpPr>
          <p:cNvPr id="25" name="Text 5"/>
          <p:cNvSpPr/>
          <p:nvPr/>
        </p:nvSpPr>
        <p:spPr>
          <a:xfrm>
            <a:off x="3635425" y="3612356"/>
            <a:ext cx="2200275" cy="116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GLEC predictor computes per-shipment CO₂e using EPA SmartWay carrier emission factors from a database of 4,600 profiles</a:t>
            </a:r>
            <a:endParaRPr lang="en-US" sz="1000" dirty="0"/>
          </a:p>
        </p:txBody>
      </p:sp>
      <p:pic>
        <p:nvPicPr>
          <p:cNvPr id="26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10275" y="3943350"/>
            <a:ext cx="171450" cy="257175"/>
          </a:xfrm>
          <a:prstGeom prst="rect">
            <a:avLst/>
          </a:prstGeom>
        </p:spPr>
      </p:pic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29375" y="1762125"/>
            <a:ext cx="638175" cy="733425"/>
          </a:xfrm>
          <a:prstGeom prst="rect">
            <a:avLst/>
          </a:prstGeom>
        </p:spPr>
      </p:pic>
      <p:sp>
        <p:nvSpPr>
          <p:cNvPr id="28" name="Text 6"/>
          <p:cNvSpPr/>
          <p:nvPr/>
        </p:nvSpPr>
        <p:spPr>
          <a:xfrm>
            <a:off x="6556325" y="1888331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A855F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pic>
        <p:nvPicPr>
          <p:cNvPr id="29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77025" y="2733675"/>
            <a:ext cx="219075" cy="219075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6556325" y="3221831"/>
            <a:ext cx="2000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Insights</a:t>
            </a:r>
            <a:endParaRPr lang="en-US" sz="1400" dirty="0"/>
          </a:p>
        </p:txBody>
      </p:sp>
      <p:sp>
        <p:nvSpPr>
          <p:cNvPr id="31" name="Text 8"/>
          <p:cNvSpPr/>
          <p:nvPr/>
        </p:nvSpPr>
        <p:spPr>
          <a:xfrm>
            <a:off x="6556325" y="3612356"/>
            <a:ext cx="2200275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dashboard auto-populates — top emission lanes, carrier rankings, fuel mix breakdown, lane risk classification</a:t>
            </a:r>
            <a:endParaRPr lang="en-US" sz="1000" dirty="0"/>
          </a:p>
        </p:txBody>
      </p:sp>
      <p:pic>
        <p:nvPicPr>
          <p:cNvPr id="32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34450" y="3943350"/>
            <a:ext cx="171450" cy="257175"/>
          </a:xfrm>
          <a:prstGeom prst="rect">
            <a:avLst/>
          </a:prstGeom>
        </p:spPr>
      </p:pic>
      <p:pic>
        <p:nvPicPr>
          <p:cNvPr id="33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53550" y="1762125"/>
            <a:ext cx="628650" cy="733425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9477375" y="1888331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highlight>
                  <a:srgbClr val="F59E0B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pic>
        <p:nvPicPr>
          <p:cNvPr id="3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72625" y="2733675"/>
            <a:ext cx="266700" cy="219075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9477375" y="3221831"/>
            <a:ext cx="2000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Action</a:t>
            </a:r>
            <a:endParaRPr lang="en-US" sz="1400" dirty="0"/>
          </a:p>
        </p:txBody>
      </p:sp>
      <p:sp>
        <p:nvSpPr>
          <p:cNvPr id="37" name="Text 11"/>
          <p:cNvSpPr/>
          <p:nvPr/>
        </p:nvSpPr>
        <p:spPr>
          <a:xfrm>
            <a:off x="9477375" y="3612356"/>
            <a:ext cx="2200275" cy="116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agent answers natural language questions; simulator models what-if scenarios and quantifies projected CO₂e savings</a:t>
            </a:r>
            <a:endParaRPr lang="en-US" sz="1000" dirty="0"/>
          </a:p>
        </p:txBody>
      </p:sp>
      <p:pic>
        <p:nvPicPr>
          <p:cNvPr id="3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6725" y="647700"/>
            <a:ext cx="11258550" cy="28575"/>
          </a:xfrm>
          <a:prstGeom prst="rect">
            <a:avLst/>
          </a:prstGeom>
        </p:spPr>
      </p:pic>
      <p:sp>
        <p:nvSpPr>
          <p:cNvPr id="39" name="Text 12"/>
          <p:cNvSpPr/>
          <p:nvPr/>
        </p:nvSpPr>
        <p:spPr>
          <a:xfrm>
            <a:off x="476250" y="381000"/>
            <a:ext cx="375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40" name="Text 13"/>
          <p:cNvSpPr/>
          <p:nvPr/>
        </p:nvSpPr>
        <p:spPr>
          <a:xfrm>
            <a:off x="476250" y="895350"/>
            <a:ext cx="112395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Raw Shipment Data to Emission Intelligence</a:t>
            </a:r>
            <a:endParaRPr lang="en-US"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0"/>
            <a:ext cx="5114925" cy="5038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71775"/>
            <a:ext cx="41624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1371600"/>
            <a:ext cx="4114800" cy="5010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1581150"/>
            <a:ext cx="3695700" cy="438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2266950"/>
            <a:ext cx="36957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2886075"/>
            <a:ext cx="36957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3505200"/>
            <a:ext cx="36957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124325"/>
            <a:ext cx="36957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743450"/>
            <a:ext cx="36957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200" y="2000250"/>
            <a:ext cx="7124700" cy="1276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6325" y="2209800"/>
            <a:ext cx="400050" cy="400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8200" y="3238500"/>
            <a:ext cx="7124700" cy="1276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86325" y="3448050"/>
            <a:ext cx="400050" cy="400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8200" y="4476750"/>
            <a:ext cx="7124700" cy="1276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6325" y="4686300"/>
            <a:ext cx="400050" cy="400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" y="1609725"/>
            <a:ext cx="209550" cy="219075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942975" y="1590675"/>
            <a:ext cx="1752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Specifications</a:t>
            </a:r>
            <a:endParaRPr lang="en-US" sz="1200" dirty="0"/>
          </a:p>
        </p:txBody>
      </p:sp>
      <p:sp>
        <p:nvSpPr>
          <p:cNvPr id="22" name="Text 1"/>
          <p:cNvSpPr/>
          <p:nvPr/>
        </p:nvSpPr>
        <p:spPr>
          <a:xfrm>
            <a:off x="638175" y="2353419"/>
            <a:ext cx="4044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800" dirty="0"/>
          </a:p>
        </p:txBody>
      </p:sp>
      <p:sp>
        <p:nvSpPr>
          <p:cNvPr id="23" name="Text 2"/>
          <p:cNvSpPr/>
          <p:nvPr/>
        </p:nvSpPr>
        <p:spPr>
          <a:xfrm>
            <a:off x="638175" y="2543919"/>
            <a:ext cx="4044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Qwen/Qwen2.5-72B-Instruct</a:t>
            </a:r>
            <a:endParaRPr lang="en-US" sz="1100" dirty="0"/>
          </a:p>
        </p:txBody>
      </p:sp>
      <p:sp>
        <p:nvSpPr>
          <p:cNvPr id="24" name="Text 3"/>
          <p:cNvSpPr/>
          <p:nvPr/>
        </p:nvSpPr>
        <p:spPr>
          <a:xfrm>
            <a:off x="638175" y="2972544"/>
            <a:ext cx="4044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</a:t>
            </a:r>
            <a:endParaRPr lang="en-US" sz="800" dirty="0"/>
          </a:p>
        </p:txBody>
      </p:sp>
      <p:sp>
        <p:nvSpPr>
          <p:cNvPr id="25" name="Text 4"/>
          <p:cNvSpPr/>
          <p:nvPr/>
        </p:nvSpPr>
        <p:spPr>
          <a:xfrm>
            <a:off x="638175" y="3163044"/>
            <a:ext cx="4044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HuggingFace Serverless Inference</a:t>
            </a:r>
            <a:endParaRPr lang="en-US" sz="1100" dirty="0"/>
          </a:p>
        </p:txBody>
      </p:sp>
      <p:sp>
        <p:nvSpPr>
          <p:cNvPr id="26" name="Text 5"/>
          <p:cNvSpPr/>
          <p:nvPr/>
        </p:nvSpPr>
        <p:spPr>
          <a:xfrm>
            <a:off x="638175" y="3591669"/>
            <a:ext cx="4044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</a:t>
            </a:r>
            <a:endParaRPr lang="en-US" sz="800" dirty="0"/>
          </a:p>
        </p:txBody>
      </p:sp>
      <p:sp>
        <p:nvSpPr>
          <p:cNvPr id="27" name="Text 6"/>
          <p:cNvSpPr/>
          <p:nvPr/>
        </p:nvSpPr>
        <p:spPr>
          <a:xfrm>
            <a:off x="638175" y="3782169"/>
            <a:ext cx="4044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InferenceClient (chat_completion API)</a:t>
            </a:r>
            <a:endParaRPr lang="en-US" sz="1100" dirty="0"/>
          </a:p>
        </p:txBody>
      </p:sp>
      <p:sp>
        <p:nvSpPr>
          <p:cNvPr id="28" name="Text 7"/>
          <p:cNvSpPr/>
          <p:nvPr/>
        </p:nvSpPr>
        <p:spPr>
          <a:xfrm>
            <a:off x="638175" y="4210794"/>
            <a:ext cx="4044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800" dirty="0"/>
          </a:p>
        </p:txBody>
      </p:sp>
      <p:sp>
        <p:nvSpPr>
          <p:cNvPr id="29" name="Text 8"/>
          <p:cNvSpPr/>
          <p:nvPr/>
        </p:nvSpPr>
        <p:spPr>
          <a:xfrm>
            <a:off x="638175" y="4401294"/>
            <a:ext cx="4044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fleet KPIs injected as system prompt</a:t>
            </a:r>
            <a:endParaRPr lang="en-US" sz="1100" dirty="0"/>
          </a:p>
        </p:txBody>
      </p:sp>
      <p:sp>
        <p:nvSpPr>
          <p:cNvPr id="30" name="Text 9"/>
          <p:cNvSpPr/>
          <p:nvPr/>
        </p:nvSpPr>
        <p:spPr>
          <a:xfrm>
            <a:off x="638175" y="4829919"/>
            <a:ext cx="4044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</a:t>
            </a:r>
            <a:endParaRPr lang="en-US" sz="800" dirty="0"/>
          </a:p>
        </p:txBody>
      </p:sp>
      <p:sp>
        <p:nvSpPr>
          <p:cNvPr id="31" name="Text 10"/>
          <p:cNvSpPr/>
          <p:nvPr/>
        </p:nvSpPr>
        <p:spPr>
          <a:xfrm>
            <a:off x="638175" y="5020419"/>
            <a:ext cx="4044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degradation — works without API key</a:t>
            </a:r>
            <a:endParaRPr lang="en-US" sz="1100" dirty="0"/>
          </a:p>
        </p:txBody>
      </p:sp>
      <p:sp>
        <p:nvSpPr>
          <p:cNvPr id="32" name="Text 11"/>
          <p:cNvSpPr/>
          <p:nvPr/>
        </p:nvSpPr>
        <p:spPr>
          <a:xfrm>
            <a:off x="638175" y="5449044"/>
            <a:ext cx="4044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80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" y="5629275"/>
            <a:ext cx="3009900" cy="314325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714375" y="5677644"/>
            <a:ext cx="2835176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HF_API_TOKEN, HF_MODEL via .env</a:t>
            </a:r>
            <a:endParaRPr lang="en-US" sz="1100" dirty="0"/>
          </a:p>
        </p:txBody>
      </p:sp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00625" y="2305050"/>
            <a:ext cx="171450" cy="209550"/>
          </a:xfrm>
          <a:prstGeom prst="rect">
            <a:avLst/>
          </a:prstGeom>
        </p:spPr>
      </p:pic>
      <p:sp>
        <p:nvSpPr>
          <p:cNvPr id="36" name="Text 13"/>
          <p:cNvSpPr/>
          <p:nvPr/>
        </p:nvSpPr>
        <p:spPr>
          <a:xfrm>
            <a:off x="5391150" y="2219325"/>
            <a:ext cx="616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Summary Agent</a:t>
            </a:r>
            <a:endParaRPr lang="en-US" sz="1100" dirty="0"/>
          </a:p>
        </p:txBody>
      </p:sp>
      <p:sp>
        <p:nvSpPr>
          <p:cNvPr id="37" name="Text 14"/>
          <p:cNvSpPr/>
          <p:nvPr/>
        </p:nvSpPr>
        <p:spPr>
          <a:xfrm>
            <a:off x="5391150" y="2524125"/>
            <a:ext cx="6010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Analyses KPIs (total CO₂e, top lanes, fuel mix) and generates a 3-paragraph executive narrative ready for sustainability reports.</a:t>
            </a:r>
            <a:endParaRPr lang="en-US" sz="1100" dirty="0"/>
          </a:p>
        </p:txBody>
      </p:sp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81575" y="3543300"/>
            <a:ext cx="209550" cy="209550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5391150" y="3457575"/>
            <a:ext cx="616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Narrator</a:t>
            </a:r>
            <a:endParaRPr lang="en-US" sz="1100" dirty="0"/>
          </a:p>
        </p:txBody>
      </p:sp>
      <p:sp>
        <p:nvSpPr>
          <p:cNvPr id="40" name="Text 16"/>
          <p:cNvSpPr/>
          <p:nvPr/>
        </p:nvSpPr>
        <p:spPr>
          <a:xfrm>
            <a:off x="5391150" y="3762375"/>
            <a:ext cx="6010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running what-if simulations, generates a data-grounded story on projected savings, implementation timeline, and fleet transition recommendations.</a:t>
            </a:r>
            <a:endParaRPr lang="en-US" sz="1100" dirty="0"/>
          </a:p>
        </p:txBody>
      </p:sp>
      <p:pic>
        <p:nvPicPr>
          <p:cNvPr id="41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53000" y="4781550"/>
            <a:ext cx="266700" cy="209550"/>
          </a:xfrm>
          <a:prstGeom prst="rect">
            <a:avLst/>
          </a:prstGeom>
        </p:spPr>
      </p:pic>
      <p:sp>
        <p:nvSpPr>
          <p:cNvPr id="42" name="Text 17"/>
          <p:cNvSpPr/>
          <p:nvPr/>
        </p:nvSpPr>
        <p:spPr>
          <a:xfrm>
            <a:off x="5391150" y="4695825"/>
            <a:ext cx="616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Q&amp;A Agent</a:t>
            </a:r>
            <a:endParaRPr lang="en-US" sz="1100" dirty="0"/>
          </a:p>
        </p:txBody>
      </p:sp>
      <p:sp>
        <p:nvSpPr>
          <p:cNvPr id="43" name="Text 18"/>
          <p:cNvSpPr/>
          <p:nvPr/>
        </p:nvSpPr>
        <p:spPr>
          <a:xfrm>
            <a:off x="5391150" y="5000625"/>
            <a:ext cx="6120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free-form questions like "Which carrier should I switch first?" or "What is my worst emission lane?" using live fleet context.</a:t>
            </a:r>
            <a:endParaRPr lang="en-US" sz="1100" dirty="0"/>
          </a:p>
        </p:txBody>
      </p:sp>
      <p:pic>
        <p:nvPicPr>
          <p:cNvPr id="44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6725" y="457200"/>
            <a:ext cx="11258550" cy="28575"/>
          </a:xfrm>
          <a:prstGeom prst="rect">
            <a:avLst/>
          </a:prstGeom>
        </p:spPr>
      </p:pic>
      <p:pic>
        <p:nvPicPr>
          <p:cNvPr id="45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9100" y="6134100"/>
            <a:ext cx="11353800" cy="628650"/>
          </a:xfrm>
          <a:prstGeom prst="rect">
            <a:avLst/>
          </a:prstGeom>
        </p:spPr>
      </p:pic>
      <p:pic>
        <p:nvPicPr>
          <p:cNvPr id="46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67025" y="6305550"/>
            <a:ext cx="38100" cy="247650"/>
          </a:xfrm>
          <a:prstGeom prst="rect">
            <a:avLst/>
          </a:prstGeom>
        </p:spPr>
      </p:pic>
      <p:sp>
        <p:nvSpPr>
          <p:cNvPr id="47" name="Text 19"/>
          <p:cNvSpPr/>
          <p:nvPr/>
        </p:nvSpPr>
        <p:spPr>
          <a:xfrm>
            <a:off x="476250" y="190500"/>
            <a:ext cx="375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48" name="Text 20"/>
          <p:cNvSpPr/>
          <p:nvPr/>
        </p:nvSpPr>
        <p:spPr>
          <a:xfrm>
            <a:off x="476250" y="628650"/>
            <a:ext cx="1123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Carbon Reasoning System</a:t>
            </a:r>
            <a:endParaRPr lang="en-US" sz="2200" dirty="0"/>
          </a:p>
        </p:txBody>
      </p:sp>
      <p:sp>
        <p:nvSpPr>
          <p:cNvPr id="49" name="Text 21"/>
          <p:cNvSpPr/>
          <p:nvPr/>
        </p:nvSpPr>
        <p:spPr>
          <a:xfrm>
            <a:off x="476250" y="1047750"/>
            <a:ext cx="1236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Qwen 2.5-72B via HuggingFace Serverless Inference</a:t>
            </a:r>
            <a:endParaRPr lang="en-US" sz="1100" dirty="0"/>
          </a:p>
        </p:txBody>
      </p:sp>
      <p:pic>
        <p:nvPicPr>
          <p:cNvPr id="50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4850" y="6343650"/>
            <a:ext cx="171450" cy="171450"/>
          </a:xfrm>
          <a:prstGeom prst="rect">
            <a:avLst/>
          </a:prstGeom>
        </p:spPr>
      </p:pic>
      <p:sp>
        <p:nvSpPr>
          <p:cNvPr id="51" name="Text 22"/>
          <p:cNvSpPr/>
          <p:nvPr/>
        </p:nvSpPr>
        <p:spPr>
          <a:xfrm>
            <a:off x="981075" y="6296025"/>
            <a:ext cx="16698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3289102" y="6331744"/>
            <a:ext cx="2399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Forest anomaly detection</a:t>
            </a:r>
            <a:endParaRPr lang="en-US" sz="1000" dirty="0"/>
          </a:p>
        </p:txBody>
      </p:sp>
      <p:pic>
        <p:nvPicPr>
          <p:cNvPr id="53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05150" y="6372225"/>
            <a:ext cx="123825" cy="114300"/>
          </a:xfrm>
          <a:prstGeom prst="rect">
            <a:avLst/>
          </a:prstGeom>
        </p:spPr>
      </p:pic>
      <p:sp>
        <p:nvSpPr>
          <p:cNvPr id="54" name="Text 24"/>
          <p:cNvSpPr/>
          <p:nvPr/>
        </p:nvSpPr>
        <p:spPr>
          <a:xfrm>
            <a:off x="5946577" y="6331744"/>
            <a:ext cx="24517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 emission prediction model</a:t>
            </a:r>
            <a:endParaRPr lang="en-US" sz="1000" dirty="0"/>
          </a:p>
        </p:txBody>
      </p:sp>
      <p:pic>
        <p:nvPicPr>
          <p:cNvPr id="55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62625" y="6372225"/>
            <a:ext cx="123825" cy="114300"/>
          </a:xfrm>
          <a:prstGeom prst="rect">
            <a:avLst/>
          </a:prstGeom>
        </p:spPr>
      </p:pic>
      <p:sp>
        <p:nvSpPr>
          <p:cNvPr id="56" name="Text 25"/>
          <p:cNvSpPr/>
          <p:nvPr/>
        </p:nvSpPr>
        <p:spPr>
          <a:xfrm>
            <a:off x="8651677" y="6331744"/>
            <a:ext cx="1718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OR-Tools route optimiser</a:t>
            </a:r>
            <a:endParaRPr lang="en-US" sz="1000" dirty="0"/>
          </a:p>
        </p:txBody>
      </p:sp>
      <p:pic>
        <p:nvPicPr>
          <p:cNvPr id="57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67725" y="6372225"/>
            <a:ext cx="12382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0"/>
            <a:ext cx="5114925" cy="5038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71775"/>
            <a:ext cx="41624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1381125"/>
            <a:ext cx="2714625" cy="1552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0775" y="1390650"/>
            <a:ext cx="781050" cy="790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700" y="1381125"/>
            <a:ext cx="2714625" cy="1552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0" y="1390650"/>
            <a:ext cx="781050" cy="790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5" y="1381125"/>
            <a:ext cx="2714625" cy="1552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6725" y="1390650"/>
            <a:ext cx="781050" cy="790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0650" y="1381125"/>
            <a:ext cx="2714625" cy="15525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34700" y="1390650"/>
            <a:ext cx="781050" cy="7905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3009900"/>
            <a:ext cx="5657850" cy="37528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50" y="3067050"/>
            <a:ext cx="57150" cy="3600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750" y="4038600"/>
            <a:ext cx="5162550" cy="1047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750" y="4038600"/>
            <a:ext cx="2028825" cy="1047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750" y="4562475"/>
            <a:ext cx="2514600" cy="1219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14700" y="4562475"/>
            <a:ext cx="2514600" cy="1219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5050" y="3009900"/>
            <a:ext cx="5657850" cy="37528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3067050"/>
            <a:ext cx="57150" cy="36004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38175" y="15573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 Adoption</a:t>
            </a:r>
            <a:endParaRPr lang="en-US" sz="1000" dirty="0"/>
          </a:p>
        </p:txBody>
      </p:sp>
      <p:sp>
        <p:nvSpPr>
          <p:cNvPr id="24" name="Text 1"/>
          <p:cNvSpPr/>
          <p:nvPr/>
        </p:nvSpPr>
        <p:spPr>
          <a:xfrm>
            <a:off x="638175" y="1747838"/>
            <a:ext cx="23717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38%</a:t>
            </a:r>
            <a:endParaRPr lang="en-US" sz="3100" dirty="0"/>
          </a:p>
        </p:txBody>
      </p:sp>
      <p:sp>
        <p:nvSpPr>
          <p:cNvPr id="25" name="Text 2"/>
          <p:cNvSpPr/>
          <p:nvPr/>
        </p:nvSpPr>
        <p:spPr>
          <a:xfrm>
            <a:off x="638175" y="22050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CO₂e Reduction</a:t>
            </a:r>
            <a:endParaRPr lang="en-US" sz="1000" dirty="0"/>
          </a:p>
        </p:txBody>
      </p:sp>
      <p:sp>
        <p:nvSpPr>
          <p:cNvPr id="26" name="Text 3"/>
          <p:cNvSpPr/>
          <p:nvPr/>
        </p:nvSpPr>
        <p:spPr>
          <a:xfrm>
            <a:off x="638175" y="2471738"/>
            <a:ext cx="260889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Modelled by switching 40% of fleet to EV</a:t>
            </a:r>
            <a:endParaRPr lang="en-US" sz="800" dirty="0"/>
          </a:p>
        </p:txBody>
      </p:sp>
      <p:sp>
        <p:nvSpPr>
          <p:cNvPr id="27" name="Text 4"/>
          <p:cNvSpPr/>
          <p:nvPr/>
        </p:nvSpPr>
        <p:spPr>
          <a:xfrm>
            <a:off x="3486150" y="15573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CNG Migration</a:t>
            </a:r>
            <a:endParaRPr lang="en-US" sz="1000" dirty="0"/>
          </a:p>
        </p:txBody>
      </p:sp>
      <p:sp>
        <p:nvSpPr>
          <p:cNvPr id="28" name="Text 5"/>
          <p:cNvSpPr/>
          <p:nvPr/>
        </p:nvSpPr>
        <p:spPr>
          <a:xfrm>
            <a:off x="3486150" y="1747838"/>
            <a:ext cx="23717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22%</a:t>
            </a:r>
            <a:endParaRPr lang="en-US" sz="3100" dirty="0"/>
          </a:p>
        </p:txBody>
      </p:sp>
      <p:sp>
        <p:nvSpPr>
          <p:cNvPr id="29" name="Text 6"/>
          <p:cNvSpPr/>
          <p:nvPr/>
        </p:nvSpPr>
        <p:spPr>
          <a:xfrm>
            <a:off x="3486150" y="22050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 Reduction</a:t>
            </a:r>
            <a:endParaRPr lang="en-US" sz="1000" dirty="0"/>
          </a:p>
        </p:txBody>
      </p:sp>
      <p:sp>
        <p:nvSpPr>
          <p:cNvPr id="30" name="Text 7"/>
          <p:cNvSpPr/>
          <p:nvPr/>
        </p:nvSpPr>
        <p:spPr>
          <a:xfrm>
            <a:off x="3486150" y="2471738"/>
            <a:ext cx="260889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CNG migration scenario</a:t>
            </a:r>
            <a:endParaRPr lang="en-US" sz="800" dirty="0"/>
          </a:p>
        </p:txBody>
      </p:sp>
      <p:sp>
        <p:nvSpPr>
          <p:cNvPr id="31" name="Text 8"/>
          <p:cNvSpPr/>
          <p:nvPr/>
        </p:nvSpPr>
        <p:spPr>
          <a:xfrm>
            <a:off x="6334125" y="15573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Optimization</a:t>
            </a:r>
            <a:endParaRPr lang="en-US" sz="1000" dirty="0"/>
          </a:p>
        </p:txBody>
      </p:sp>
      <p:sp>
        <p:nvSpPr>
          <p:cNvPr id="32" name="Text 9"/>
          <p:cNvSpPr/>
          <p:nvPr/>
        </p:nvSpPr>
        <p:spPr>
          <a:xfrm>
            <a:off x="6334125" y="1747838"/>
            <a:ext cx="23717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17%</a:t>
            </a:r>
            <a:endParaRPr lang="en-US" sz="3100" dirty="0"/>
          </a:p>
        </p:txBody>
      </p:sp>
      <p:sp>
        <p:nvSpPr>
          <p:cNvPr id="33" name="Text 10"/>
          <p:cNvSpPr/>
          <p:nvPr/>
        </p:nvSpPr>
        <p:spPr>
          <a:xfrm>
            <a:off x="6334125" y="22050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 Savings</a:t>
            </a:r>
            <a:endParaRPr lang="en-US" sz="1000" dirty="0"/>
          </a:p>
        </p:txBody>
      </p:sp>
      <p:sp>
        <p:nvSpPr>
          <p:cNvPr id="34" name="Text 11"/>
          <p:cNvSpPr/>
          <p:nvPr/>
        </p:nvSpPr>
        <p:spPr>
          <a:xfrm>
            <a:off x="6334125" y="2471738"/>
            <a:ext cx="260889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factor optimisation (0.70 → 0.90)</a:t>
            </a:r>
            <a:endParaRPr lang="en-US" sz="800" dirty="0"/>
          </a:p>
        </p:txBody>
      </p:sp>
      <p:sp>
        <p:nvSpPr>
          <p:cNvPr id="35" name="Text 12"/>
          <p:cNvSpPr/>
          <p:nvPr/>
        </p:nvSpPr>
        <p:spPr>
          <a:xfrm>
            <a:off x="9182100" y="15573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Planning</a:t>
            </a:r>
            <a:endParaRPr lang="en-US" sz="1000" dirty="0"/>
          </a:p>
        </p:txBody>
      </p:sp>
      <p:sp>
        <p:nvSpPr>
          <p:cNvPr id="36" name="Text 13"/>
          <p:cNvSpPr/>
          <p:nvPr/>
        </p:nvSpPr>
        <p:spPr>
          <a:xfrm>
            <a:off x="9182100" y="1747838"/>
            <a:ext cx="23717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12%</a:t>
            </a:r>
            <a:endParaRPr lang="en-US" sz="3100" dirty="0"/>
          </a:p>
        </p:txBody>
      </p:sp>
      <p:sp>
        <p:nvSpPr>
          <p:cNvPr id="37" name="Text 14"/>
          <p:cNvSpPr/>
          <p:nvPr/>
        </p:nvSpPr>
        <p:spPr>
          <a:xfrm>
            <a:off x="9182100" y="2205038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Lane Gains</a:t>
            </a:r>
            <a:endParaRPr lang="en-US" sz="1000" dirty="0"/>
          </a:p>
        </p:txBody>
      </p:sp>
      <p:sp>
        <p:nvSpPr>
          <p:cNvPr id="38" name="Text 15"/>
          <p:cNvSpPr/>
          <p:nvPr/>
        </p:nvSpPr>
        <p:spPr>
          <a:xfrm>
            <a:off x="9182100" y="2471738"/>
            <a:ext cx="260889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route rationalisation on key lanes</a:t>
            </a:r>
            <a:endParaRPr lang="en-US" sz="800" dirty="0"/>
          </a:p>
        </p:txBody>
      </p:sp>
      <p:sp>
        <p:nvSpPr>
          <p:cNvPr id="39" name="Text 16"/>
          <p:cNvSpPr/>
          <p:nvPr/>
        </p:nvSpPr>
        <p:spPr>
          <a:xfrm>
            <a:off x="981075" y="3290888"/>
            <a:ext cx="1685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Combined Results</a:t>
            </a:r>
            <a:endParaRPr lang="en-US" sz="1400" dirty="0"/>
          </a:p>
        </p:txBody>
      </p:sp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" y="3305175"/>
            <a:ext cx="209550" cy="219075"/>
          </a:xfrm>
          <a:prstGeom prst="rect">
            <a:avLst/>
          </a:prstGeom>
        </p:spPr>
      </p:pic>
      <p:sp>
        <p:nvSpPr>
          <p:cNvPr id="41" name="Text 17"/>
          <p:cNvSpPr/>
          <p:nvPr/>
        </p:nvSpPr>
        <p:spPr>
          <a:xfrm>
            <a:off x="676275" y="3671888"/>
            <a:ext cx="7229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~489</a:t>
            </a:r>
            <a:endParaRPr lang="en-US" sz="2100" dirty="0"/>
          </a:p>
        </p:txBody>
      </p:sp>
      <p:sp>
        <p:nvSpPr>
          <p:cNvPr id="42" name="Text 18"/>
          <p:cNvSpPr/>
          <p:nvPr/>
        </p:nvSpPr>
        <p:spPr>
          <a:xfrm>
            <a:off x="1409700" y="3786188"/>
            <a:ext cx="1341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tonnes/month saved</a:t>
            </a:r>
            <a:endParaRPr lang="en-US" sz="1000" dirty="0"/>
          </a:p>
        </p:txBody>
      </p:sp>
      <p:sp>
        <p:nvSpPr>
          <p:cNvPr id="43" name="Text 19"/>
          <p:cNvSpPr/>
          <p:nvPr/>
        </p:nvSpPr>
        <p:spPr>
          <a:xfrm>
            <a:off x="676275" y="4167188"/>
            <a:ext cx="12363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Current: ~1,247 tonnes</a:t>
            </a:r>
            <a:endParaRPr lang="en-US" sz="800" dirty="0"/>
          </a:p>
        </p:txBody>
      </p:sp>
      <p:sp>
        <p:nvSpPr>
          <p:cNvPr id="44" name="Text 20"/>
          <p:cNvSpPr/>
          <p:nvPr/>
        </p:nvSpPr>
        <p:spPr>
          <a:xfrm>
            <a:off x="4810125" y="4167188"/>
            <a:ext cx="1110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4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~758 tonnes</a:t>
            </a:r>
            <a:endParaRPr lang="en-US" sz="800" dirty="0"/>
          </a:p>
        </p:txBody>
      </p:sp>
      <p:pic>
        <p:nvPicPr>
          <p:cNvPr id="45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" y="4762500"/>
            <a:ext cx="257175" cy="219075"/>
          </a:xfrm>
          <a:prstGeom prst="rect">
            <a:avLst/>
          </a:prstGeom>
        </p:spPr>
      </p:pic>
      <p:sp>
        <p:nvSpPr>
          <p:cNvPr id="46" name="Text 21"/>
          <p:cNvSpPr/>
          <p:nvPr/>
        </p:nvSpPr>
        <p:spPr>
          <a:xfrm>
            <a:off x="838200" y="5083076"/>
            <a:ext cx="23888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107 Cars</a:t>
            </a:r>
            <a:endParaRPr lang="en-US" sz="1200" dirty="0"/>
          </a:p>
        </p:txBody>
      </p:sp>
      <p:sp>
        <p:nvSpPr>
          <p:cNvPr id="47" name="Text 22"/>
          <p:cNvSpPr/>
          <p:nvPr/>
        </p:nvSpPr>
        <p:spPr>
          <a:xfrm>
            <a:off x="838200" y="5349776"/>
            <a:ext cx="2388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Equivalent removed annually</a:t>
            </a:r>
            <a:endParaRPr lang="en-US" sz="800" dirty="0"/>
          </a:p>
        </p:txBody>
      </p:sp>
      <p:pic>
        <p:nvPicPr>
          <p:cNvPr id="48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76625" y="4762500"/>
            <a:ext cx="142875" cy="219075"/>
          </a:xfrm>
          <a:prstGeom prst="rect">
            <a:avLst/>
          </a:prstGeom>
        </p:spPr>
      </p:pic>
      <p:sp>
        <p:nvSpPr>
          <p:cNvPr id="49" name="Text 23"/>
          <p:cNvSpPr/>
          <p:nvPr/>
        </p:nvSpPr>
        <p:spPr>
          <a:xfrm>
            <a:off x="3486150" y="5083076"/>
            <a:ext cx="23888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₹8.2L/mo</a:t>
            </a:r>
            <a:endParaRPr lang="en-US" sz="1200" dirty="0"/>
          </a:p>
        </p:txBody>
      </p:sp>
      <p:sp>
        <p:nvSpPr>
          <p:cNvPr id="50" name="Text 24"/>
          <p:cNvSpPr/>
          <p:nvPr/>
        </p:nvSpPr>
        <p:spPr>
          <a:xfrm>
            <a:off x="3486150" y="5349776"/>
            <a:ext cx="2388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avoidance @ ₹1,680/t</a:t>
            </a:r>
            <a:endParaRPr lang="en-US" sz="800" dirty="0"/>
          </a:p>
        </p:txBody>
      </p:sp>
      <p:pic>
        <p:nvPicPr>
          <p:cNvPr id="51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6750" y="5905500"/>
            <a:ext cx="5162550" cy="571500"/>
          </a:xfrm>
          <a:prstGeom prst="rect">
            <a:avLst/>
          </a:prstGeom>
        </p:spPr>
      </p:pic>
      <p:sp>
        <p:nvSpPr>
          <p:cNvPr id="52" name="Text 25"/>
          <p:cNvSpPr/>
          <p:nvPr/>
        </p:nvSpPr>
        <p:spPr>
          <a:xfrm>
            <a:off x="1009650" y="6109395"/>
            <a:ext cx="34366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BRSR Scope 3 data auto-generated and audit-ready</a:t>
            </a:r>
            <a:endParaRPr lang="en-US" sz="1000" dirty="0"/>
          </a:p>
        </p:txBody>
      </p:sp>
      <p:pic>
        <p:nvPicPr>
          <p:cNvPr id="53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0575" y="6115050"/>
            <a:ext cx="152400" cy="161925"/>
          </a:xfrm>
          <a:prstGeom prst="rect">
            <a:avLst/>
          </a:prstGeom>
        </p:spPr>
      </p:pic>
      <p:sp>
        <p:nvSpPr>
          <p:cNvPr id="54" name="Text 26"/>
          <p:cNvSpPr/>
          <p:nvPr/>
        </p:nvSpPr>
        <p:spPr>
          <a:xfrm>
            <a:off x="6677025" y="3290888"/>
            <a:ext cx="1381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1400" dirty="0"/>
          </a:p>
        </p:txBody>
      </p:sp>
      <p:pic>
        <p:nvPicPr>
          <p:cNvPr id="55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62700" y="3305175"/>
            <a:ext cx="209550" cy="219075"/>
          </a:xfrm>
          <a:prstGeom prst="rect">
            <a:avLst/>
          </a:prstGeom>
        </p:spPr>
      </p:pic>
      <p:sp>
        <p:nvSpPr>
          <p:cNvPr id="56" name="Text 27"/>
          <p:cNvSpPr/>
          <p:nvPr/>
        </p:nvSpPr>
        <p:spPr>
          <a:xfrm>
            <a:off x="6553200" y="3681413"/>
            <a:ext cx="11001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Compliance</a:t>
            </a:r>
            <a:endParaRPr lang="en-US" sz="1000" dirty="0"/>
          </a:p>
        </p:txBody>
      </p:sp>
      <p:sp>
        <p:nvSpPr>
          <p:cNvPr id="57" name="Text 28"/>
          <p:cNvSpPr/>
          <p:nvPr/>
        </p:nvSpPr>
        <p:spPr>
          <a:xfrm>
            <a:off x="6524625" y="3910013"/>
            <a:ext cx="5490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SEBI BRSR Scope 3 auto-generated</a:t>
            </a:r>
            <a:endParaRPr lang="en-US" sz="1000" dirty="0"/>
          </a:p>
        </p:txBody>
      </p:sp>
      <p:sp>
        <p:nvSpPr>
          <p:cNvPr id="58" name="Text 29"/>
          <p:cNvSpPr/>
          <p:nvPr/>
        </p:nvSpPr>
        <p:spPr>
          <a:xfrm>
            <a:off x="6553200" y="4224338"/>
            <a:ext cx="1592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Carrier Selection</a:t>
            </a:r>
            <a:endParaRPr lang="en-US" sz="1000" dirty="0"/>
          </a:p>
        </p:txBody>
      </p:sp>
      <p:sp>
        <p:nvSpPr>
          <p:cNvPr id="59" name="Text 30"/>
          <p:cNvSpPr/>
          <p:nvPr/>
        </p:nvSpPr>
        <p:spPr>
          <a:xfrm>
            <a:off x="6524625" y="4452938"/>
            <a:ext cx="5490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ranking</a:t>
            </a:r>
            <a:endParaRPr lang="en-US" sz="1000" dirty="0"/>
          </a:p>
        </p:txBody>
      </p:sp>
      <p:sp>
        <p:nvSpPr>
          <p:cNvPr id="60" name="Text 31"/>
          <p:cNvSpPr/>
          <p:nvPr/>
        </p:nvSpPr>
        <p:spPr>
          <a:xfrm>
            <a:off x="6553200" y="4767263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Planning</a:t>
            </a:r>
            <a:endParaRPr lang="en-US" sz="1000" dirty="0"/>
          </a:p>
        </p:txBody>
      </p:sp>
      <p:sp>
        <p:nvSpPr>
          <p:cNvPr id="61" name="Text 32"/>
          <p:cNvSpPr/>
          <p:nvPr/>
        </p:nvSpPr>
        <p:spPr>
          <a:xfrm>
            <a:off x="6524625" y="4995863"/>
            <a:ext cx="5490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EV/CNG ROI before capex</a:t>
            </a:r>
            <a:endParaRPr lang="en-US" sz="1000" dirty="0"/>
          </a:p>
        </p:txBody>
      </p:sp>
      <p:sp>
        <p:nvSpPr>
          <p:cNvPr id="62" name="Text 33"/>
          <p:cNvSpPr/>
          <p:nvPr/>
        </p:nvSpPr>
        <p:spPr>
          <a:xfrm>
            <a:off x="6553200" y="5310188"/>
            <a:ext cx="12049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Lane Optimisation</a:t>
            </a:r>
            <a:endParaRPr lang="en-US" sz="1000" dirty="0"/>
          </a:p>
        </p:txBody>
      </p:sp>
      <p:sp>
        <p:nvSpPr>
          <p:cNvPr id="63" name="Text 34"/>
          <p:cNvSpPr/>
          <p:nvPr/>
        </p:nvSpPr>
        <p:spPr>
          <a:xfrm>
            <a:off x="6524625" y="5538788"/>
            <a:ext cx="5490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and reroute high-emission corridors</a:t>
            </a:r>
            <a:endParaRPr lang="en-US" sz="1000" dirty="0"/>
          </a:p>
        </p:txBody>
      </p:sp>
      <p:sp>
        <p:nvSpPr>
          <p:cNvPr id="64" name="Text 35"/>
          <p:cNvSpPr/>
          <p:nvPr/>
        </p:nvSpPr>
        <p:spPr>
          <a:xfrm>
            <a:off x="6553200" y="5853113"/>
            <a:ext cx="12468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Visibility</a:t>
            </a:r>
            <a:endParaRPr lang="en-US" sz="1000" dirty="0"/>
          </a:p>
        </p:txBody>
      </p:sp>
      <p:sp>
        <p:nvSpPr>
          <p:cNvPr id="65" name="Text 36"/>
          <p:cNvSpPr/>
          <p:nvPr/>
        </p:nvSpPr>
        <p:spPr>
          <a:xfrm>
            <a:off x="6524625" y="6081713"/>
            <a:ext cx="5490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Shipment-level carbon attribution at scale</a:t>
            </a:r>
            <a:endParaRPr lang="en-US" sz="1000" dirty="0"/>
          </a:p>
        </p:txBody>
      </p:sp>
      <p:pic>
        <p:nvPicPr>
          <p:cNvPr id="66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6725" y="457200"/>
            <a:ext cx="11258550" cy="28575"/>
          </a:xfrm>
          <a:prstGeom prst="rect">
            <a:avLst/>
          </a:prstGeom>
        </p:spPr>
      </p:pic>
      <p:sp>
        <p:nvSpPr>
          <p:cNvPr id="67" name="Text 37"/>
          <p:cNvSpPr/>
          <p:nvPr/>
        </p:nvSpPr>
        <p:spPr>
          <a:xfrm>
            <a:off x="476250" y="190500"/>
            <a:ext cx="375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68" name="Text 38"/>
          <p:cNvSpPr/>
          <p:nvPr/>
        </p:nvSpPr>
        <p:spPr>
          <a:xfrm>
            <a:off x="476250" y="704850"/>
            <a:ext cx="112395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Demonstrated on 800 Real-World Indian Shipments</a:t>
            </a:r>
            <a:endParaRPr lang="en-US" sz="2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0"/>
            <a:ext cx="5114925" cy="5038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71775"/>
            <a:ext cx="41624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1114425"/>
            <a:ext cx="6610350" cy="40290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1724025"/>
            <a:ext cx="6191250" cy="6000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2524125"/>
            <a:ext cx="6191250" cy="6000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3324225"/>
            <a:ext cx="6191250" cy="6000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8025" y="1114425"/>
            <a:ext cx="4714875" cy="40290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7271" y="1905001"/>
            <a:ext cx="47625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7353300" y="2686050"/>
            <a:ext cx="70150" cy="10382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5181600"/>
            <a:ext cx="11353800" cy="1485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6334125"/>
            <a:ext cx="10934700" cy="3333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933450" y="1357313"/>
            <a:ext cx="1619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400" dirty="0"/>
          </a:p>
        </p:txBody>
      </p:sp>
      <p:pic>
        <p:nvPicPr>
          <p:cNvPr id="1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" y="1371600"/>
            <a:ext cx="238125" cy="219075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38175" y="1814513"/>
            <a:ext cx="67858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Frontend/UI</a:t>
            </a:r>
            <a:endParaRPr lang="en-US" sz="900" dirty="0"/>
          </a:p>
        </p:txBody>
      </p:sp>
      <p:sp>
        <p:nvSpPr>
          <p:cNvPr id="19" name="Text 2"/>
          <p:cNvSpPr/>
          <p:nvPr/>
        </p:nvSpPr>
        <p:spPr>
          <a:xfrm>
            <a:off x="638175" y="2038350"/>
            <a:ext cx="67858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≥1.30 | Custom CSS glassmorphism | Google Fonts (Outfit) | Plotly Express + Graph Objects</a:t>
            </a:r>
            <a:endParaRPr lang="en-US" sz="900" dirty="0"/>
          </a:p>
        </p:txBody>
      </p:sp>
      <p:sp>
        <p:nvSpPr>
          <p:cNvPr id="20" name="Text 3"/>
          <p:cNvSpPr/>
          <p:nvPr/>
        </p:nvSpPr>
        <p:spPr>
          <a:xfrm>
            <a:off x="638175" y="2614613"/>
            <a:ext cx="67858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Backend/Logic</a:t>
            </a:r>
            <a:endParaRPr lang="en-US" sz="900" dirty="0"/>
          </a:p>
        </p:txBody>
      </p:sp>
      <p:sp>
        <p:nvSpPr>
          <p:cNvPr id="21" name="Text 4"/>
          <p:cNvSpPr/>
          <p:nvPr/>
        </p:nvSpPr>
        <p:spPr>
          <a:xfrm>
            <a:off x="638175" y="2838450"/>
            <a:ext cx="67858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3.10+ | Pandas + NumPy | scikit-learn (ML pipeline) | joblib (model serialisation)</a:t>
            </a:r>
            <a:endParaRPr lang="en-US" sz="900" dirty="0"/>
          </a:p>
        </p:txBody>
      </p:sp>
      <p:sp>
        <p:nvSpPr>
          <p:cNvPr id="22" name="Text 5"/>
          <p:cNvSpPr/>
          <p:nvPr/>
        </p:nvSpPr>
        <p:spPr>
          <a:xfrm>
            <a:off x="638175" y="3414713"/>
            <a:ext cx="67858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AI/Intelligence</a:t>
            </a:r>
            <a:endParaRPr lang="en-US" sz="900" dirty="0"/>
          </a:p>
        </p:txBody>
      </p:sp>
      <p:sp>
        <p:nvSpPr>
          <p:cNvPr id="23" name="Text 6"/>
          <p:cNvSpPr/>
          <p:nvPr/>
        </p:nvSpPr>
        <p:spPr>
          <a:xfrm>
            <a:off x="638175" y="3638550"/>
            <a:ext cx="67858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HuggingFace Hub | Qwen 2.5-72B-Instruct | python-dotenv (secure config) | InferenceClient API</a:t>
            </a:r>
            <a:endParaRPr lang="en-US" sz="900" dirty="0"/>
          </a:p>
        </p:txBody>
      </p:sp>
      <p:sp>
        <p:nvSpPr>
          <p:cNvPr id="24" name="Text 7"/>
          <p:cNvSpPr/>
          <p:nvPr/>
        </p:nvSpPr>
        <p:spPr>
          <a:xfrm>
            <a:off x="638175" y="4214813"/>
            <a:ext cx="67858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Data/Standards</a:t>
            </a:r>
            <a:endParaRPr lang="en-US" sz="900" dirty="0"/>
          </a:p>
        </p:txBody>
      </p:sp>
      <p:sp>
        <p:nvSpPr>
          <p:cNvPr id="25" name="Text 8"/>
          <p:cNvSpPr/>
          <p:nvPr/>
        </p:nvSpPr>
        <p:spPr>
          <a:xfrm>
            <a:off x="638175" y="4438650"/>
            <a:ext cx="6181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GLEC Framework (Global Logistics Emissions Council) | EPA SmartWay 2022 (4,600 carriers) | UK BEIS GHG Factors | SEBI BRSR Scope 3 alignment</a:t>
            </a:r>
            <a:endParaRPr lang="en-US" sz="900" dirty="0"/>
          </a:p>
        </p:txBody>
      </p:sp>
      <p:sp>
        <p:nvSpPr>
          <p:cNvPr id="26" name="Text 9"/>
          <p:cNvSpPr/>
          <p:nvPr/>
        </p:nvSpPr>
        <p:spPr>
          <a:xfrm>
            <a:off x="7550051" y="1357313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10"/>
          <p:cNvSpPr/>
          <p:nvPr/>
        </p:nvSpPr>
        <p:spPr>
          <a:xfrm>
            <a:off x="7511951" y="2078831"/>
            <a:ext cx="4445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11"/>
          <p:cNvSpPr/>
          <p:nvPr/>
        </p:nvSpPr>
        <p:spPr>
          <a:xfrm>
            <a:off x="7511952" y="2345531"/>
            <a:ext cx="3926408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12"/>
          <p:cNvSpPr/>
          <p:nvPr/>
        </p:nvSpPr>
        <p:spPr>
          <a:xfrm>
            <a:off x="7511951" y="2838450"/>
            <a:ext cx="4445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13"/>
          <p:cNvSpPr/>
          <p:nvPr/>
        </p:nvSpPr>
        <p:spPr>
          <a:xfrm>
            <a:off x="7511951" y="3105150"/>
            <a:ext cx="4041874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14"/>
          <p:cNvSpPr/>
          <p:nvPr/>
        </p:nvSpPr>
        <p:spPr>
          <a:xfrm>
            <a:off x="7511951" y="3768328"/>
            <a:ext cx="4445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15"/>
          <p:cNvSpPr/>
          <p:nvPr/>
        </p:nvSpPr>
        <p:spPr>
          <a:xfrm>
            <a:off x="7511951" y="4035028"/>
            <a:ext cx="3974033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16"/>
          <p:cNvSpPr/>
          <p:nvPr/>
        </p:nvSpPr>
        <p:spPr>
          <a:xfrm>
            <a:off x="7372350" y="2082416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Team-Load a Code</a:t>
            </a:r>
            <a:endParaRPr lang="en-US" sz="1700" dirty="0"/>
          </a:p>
        </p:txBody>
      </p:sp>
      <p:sp>
        <p:nvSpPr>
          <p:cNvPr id="35" name="Text 17"/>
          <p:cNvSpPr/>
          <p:nvPr/>
        </p:nvSpPr>
        <p:spPr>
          <a:xfrm>
            <a:off x="8639365" y="3796587"/>
            <a:ext cx="462057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BTech Artificial Intelligence Engineering</a:t>
            </a:r>
            <a:endParaRPr lang="en-US" sz="900" dirty="0"/>
          </a:p>
        </p:txBody>
      </p:sp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4749" y="3258753"/>
            <a:ext cx="123825" cy="152400"/>
          </a:xfrm>
          <a:prstGeom prst="rect">
            <a:avLst/>
          </a:prstGeom>
        </p:spPr>
      </p:pic>
      <p:sp>
        <p:nvSpPr>
          <p:cNvPr id="37" name="Text 18"/>
          <p:cNvSpPr/>
          <p:nvPr/>
        </p:nvSpPr>
        <p:spPr>
          <a:xfrm>
            <a:off x="7664023" y="3264086"/>
            <a:ext cx="19802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Streamlit · HuggingFace</a:t>
            </a:r>
            <a:endParaRPr lang="en-US" sz="900" dirty="0"/>
          </a:p>
        </p:txBody>
      </p:sp>
      <p:pic>
        <p:nvPicPr>
          <p:cNvPr id="38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88726" y="3269456"/>
            <a:ext cx="123825" cy="152400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9857006" y="3264086"/>
            <a:ext cx="207454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GLEC · EPA SmartWay · BEIS GHG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7420228" y="1362074"/>
            <a:ext cx="4018132" cy="64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LogisticsNow Hackathon 2026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Round 2</a:t>
            </a:r>
            <a:endParaRPr lang="en-US" sz="1600" dirty="0"/>
          </a:p>
        </p:txBody>
      </p:sp>
      <p:sp>
        <p:nvSpPr>
          <p:cNvPr id="41" name="Text 21"/>
          <p:cNvSpPr/>
          <p:nvPr/>
        </p:nvSpPr>
        <p:spPr>
          <a:xfrm>
            <a:off x="8043001" y="2716538"/>
            <a:ext cx="30699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Freight Decarbonisation</a:t>
            </a:r>
            <a:endParaRPr lang="en-US" sz="1600" dirty="0"/>
          </a:p>
        </p:txBody>
      </p:sp>
      <p:sp>
        <p:nvSpPr>
          <p:cNvPr id="42" name="Text 22"/>
          <p:cNvSpPr/>
          <p:nvPr/>
        </p:nvSpPr>
        <p:spPr>
          <a:xfrm>
            <a:off x="8430860" y="4179725"/>
            <a:ext cx="19907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https://carbon-iq.streamlit.app/</a:t>
            </a:r>
            <a:endParaRPr lang="en-US" sz="900" dirty="0"/>
          </a:p>
        </p:txBody>
      </p:sp>
      <p:sp>
        <p:nvSpPr>
          <p:cNvPr id="43" name="Text 23"/>
          <p:cNvSpPr/>
          <p:nvPr/>
        </p:nvSpPr>
        <p:spPr>
          <a:xfrm>
            <a:off x="4900613" y="6467475"/>
            <a:ext cx="262985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0A1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🌱 CarbonIQ — Making Every Tonne Count</a:t>
            </a:r>
            <a:endParaRPr lang="en-US" sz="9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725" y="533400"/>
            <a:ext cx="11258550" cy="38100"/>
          </a:xfrm>
          <a:prstGeom prst="rect">
            <a:avLst/>
          </a:prstGeom>
        </p:spPr>
      </p:pic>
      <p:sp>
        <p:nvSpPr>
          <p:cNvPr id="45" name="Text 24"/>
          <p:cNvSpPr/>
          <p:nvPr/>
        </p:nvSpPr>
        <p:spPr>
          <a:xfrm>
            <a:off x="476250" y="285750"/>
            <a:ext cx="34166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900" dirty="0"/>
          </a:p>
        </p:txBody>
      </p:sp>
      <p:sp>
        <p:nvSpPr>
          <p:cNvPr id="46" name="Text 25"/>
          <p:cNvSpPr/>
          <p:nvPr/>
        </p:nvSpPr>
        <p:spPr>
          <a:xfrm>
            <a:off x="476250" y="671513"/>
            <a:ext cx="1123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Open Source Stack — Zero Proprietary Lock-In</a:t>
            </a:r>
            <a:endParaRPr lang="en-US" sz="2500" dirty="0"/>
          </a:p>
        </p:txBody>
      </p:sp>
      <p:pic>
        <p:nvPicPr>
          <p:cNvPr id="47" name="Image 10" descr="preencoded.png">
            <a:extLst>
              <a:ext uri="{FF2B5EF4-FFF2-40B4-BE49-F238E27FC236}">
                <a16:creationId xmlns:a16="http://schemas.microsoft.com/office/drawing/2014/main" id="{09280BB3-4F57-809B-2E2F-E898B6812F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0750" y="3802857"/>
            <a:ext cx="47625" cy="5334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48A8516-E360-A387-DB3C-24F39087B229}"/>
              </a:ext>
            </a:extLst>
          </p:cNvPr>
          <p:cNvSpPr txBox="1"/>
          <p:nvPr/>
        </p:nvSpPr>
        <p:spPr>
          <a:xfrm>
            <a:off x="1025910" y="5375701"/>
            <a:ext cx="115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CC99"/>
                </a:solidFill>
              </a:rPr>
              <a:t>Yash Garg </a:t>
            </a:r>
            <a:endParaRPr lang="en-IN" dirty="0">
              <a:solidFill>
                <a:srgbClr val="00CC99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6D47D7-338F-30A0-DC41-3A863AD966CD}"/>
              </a:ext>
            </a:extLst>
          </p:cNvPr>
          <p:cNvSpPr txBox="1"/>
          <p:nvPr/>
        </p:nvSpPr>
        <p:spPr>
          <a:xfrm>
            <a:off x="933448" y="5783133"/>
            <a:ext cx="1337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99"/>
                </a:solidFill>
              </a:rPr>
              <a:t>Yash Kothari</a:t>
            </a:r>
            <a:endParaRPr lang="en-IN" dirty="0">
              <a:solidFill>
                <a:srgbClr val="00CC99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E9DAB2-7ACF-856C-AB23-CE951C08AEE5}"/>
              </a:ext>
            </a:extLst>
          </p:cNvPr>
          <p:cNvSpPr txBox="1"/>
          <p:nvPr/>
        </p:nvSpPr>
        <p:spPr>
          <a:xfrm>
            <a:off x="10004561" y="5801138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99"/>
                </a:solidFill>
              </a:rPr>
              <a:t>Vidhi Damani</a:t>
            </a:r>
            <a:endParaRPr lang="en-IN" dirty="0">
              <a:solidFill>
                <a:srgbClr val="00CC99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DAFC4D-E4EA-7C09-317F-52237777AB57}"/>
              </a:ext>
            </a:extLst>
          </p:cNvPr>
          <p:cNvSpPr txBox="1"/>
          <p:nvPr/>
        </p:nvSpPr>
        <p:spPr>
          <a:xfrm>
            <a:off x="9877667" y="5370671"/>
            <a:ext cx="1695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99"/>
                </a:solidFill>
              </a:rPr>
              <a:t>Anumay Pandey</a:t>
            </a:r>
            <a:endParaRPr lang="en-IN" dirty="0">
              <a:solidFill>
                <a:srgbClr val="00CC99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BA6229-A0C5-EECC-4379-561FD8DC1795}"/>
              </a:ext>
            </a:extLst>
          </p:cNvPr>
          <p:cNvSpPr txBox="1"/>
          <p:nvPr/>
        </p:nvSpPr>
        <p:spPr>
          <a:xfrm>
            <a:off x="5332258" y="5559800"/>
            <a:ext cx="2017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dirty="0">
                <a:solidFill>
                  <a:schemeClr val="bg1"/>
                </a:solidFill>
              </a:rPr>
              <a:t>Load a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1098</Words>
  <Application>Microsoft Office PowerPoint</Application>
  <PresentationFormat>Widescreen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Yash Kothari</cp:lastModifiedBy>
  <cp:revision>4</cp:revision>
  <dcterms:created xsi:type="dcterms:W3CDTF">2026-03-07T22:57:45Z</dcterms:created>
  <dcterms:modified xsi:type="dcterms:W3CDTF">2026-03-07T23:50:12Z</dcterms:modified>
</cp:coreProperties>
</file>